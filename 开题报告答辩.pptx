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25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54864" cy="2560320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463040"/>
            <a:ext cx="77724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38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文档理解与多模态 GraphRAG</a:t>
            </a:r>
            <a:endParaRPr lang="en-US" sz="4000" dirty="0"/>
          </a:p>
          <a:p>
            <a:pPr algn="l" indent="0" marL="0">
              <a:lnSpc>
                <a:spcPts val="38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检索问答系统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731520" y="310896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00D4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基于 qwen3-vl-8b-instruct、FAISS 与 networkx 的可追溯文档智能助手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42062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A0B4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开题报告答辩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45720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7A8FA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2025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任务背景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8229600" cy="1097280"/>
          </a:xfrm>
          <a:prstGeom prst="rect">
            <a:avLst/>
          </a:prstGeom>
          <a:solidFill>
            <a:srgbClr val="E8F4F8"/>
          </a:solidFill>
          <a:ln w="12700">
            <a:solidFill>
              <a:srgbClr val="D0E4E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46304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0D4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核心问题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178308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对于图文混排、跨页引用和结构复杂的长文档，如何把页面视觉信息、文本语义片段和知识图谱关系融合到同一条检索问答链路中？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57200" y="2743200"/>
            <a:ext cx="265176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94360" y="2880360"/>
            <a:ext cx="457200" cy="73152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306324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A25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视觉信息丢失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94360" y="3520440"/>
            <a:ext cx="23774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6B7B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图表趋势、版面结构、颜色标记、坐标轴和表格边界很难被纯文本准确保留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383280" y="2743200"/>
            <a:ext cx="265176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520440" y="2880360"/>
            <a:ext cx="457200" cy="73152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520440" y="306324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A25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结构关系不足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520440" y="3520440"/>
            <a:ext cx="23774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6B7B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同一页内的图文对应、跨页段落延续、图号与结论之间的支撑关系无法仅靠向量相似度稳定表达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309360" y="2743200"/>
            <a:ext cx="265176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446520" y="2880360"/>
            <a:ext cx="457200" cy="73152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46520" y="306324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A25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证据链不可解释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446520" y="3520440"/>
            <a:ext cx="23774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6B7B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向量检索可以找到相似片段，但不擅长回答“某结论由哪些图表和实验支撑”这类多跳问题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系统架构</a:t>
            </a:r>
            <a:endParaRPr lang="en-US" sz="3200" dirty="0"/>
          </a:p>
        </p:txBody>
      </p:sp>
      <p:pic>
        <p:nvPicPr>
          <p:cNvPr id="4" name="Image 0" descr="DocRAG架构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280160"/>
            <a:ext cx="8229600" cy="34747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48463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B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知识库构建链路（左）+ 在线问答链路（右）+ 前端展示层（下）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实验设计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3840480" cy="3474720"/>
          </a:xfrm>
          <a:prstGeom prst="rect">
            <a:avLst/>
          </a:prstGeom>
          <a:solidFill>
            <a:srgbClr val="E8F4F8"/>
          </a:solidFill>
          <a:ln w="12700">
            <a:solidFill>
              <a:srgbClr val="D0E4E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4173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A25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数据集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40080" y="1920240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自建长文档测试集（3-5 篇论文/技术文档）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2084832"/>
            <a:ext cx="109728" cy="109728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2423160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DocVQA 验证子集（单页文档问答）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40080" y="2587752"/>
            <a:ext cx="109728" cy="109728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2926080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ChartQA 子集（图表推理问题）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40080" y="3090672"/>
            <a:ext cx="109728" cy="109728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754880" y="1280160"/>
            <a:ext cx="393192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937760" y="14173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A25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评测指标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937760" y="192024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D4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ANLS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675120" y="19202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B7B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平均归一化编辑相似度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937760" y="242316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D4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Exact Match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675120" y="24231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B7B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预测与标准答案完全匹配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937760" y="292608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D4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引用命中率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675120" y="29260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B7B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页码/图号/节点覆盖真实证据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937760" y="342900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D4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证据召回率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675120" y="34290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B7B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top-k + 图扩展包含标注依据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937760" y="393192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D4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图谱有效性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675120" y="39319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B7B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开启/关闭图扩展的多跳题差异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57200" y="4937760"/>
            <a:ext cx="8229600" cy="457200"/>
          </a:xfrm>
          <a:prstGeom prst="rect">
            <a:avLst/>
          </a:prstGeom>
          <a:solidFill>
            <a:srgbClr val="1B4965"/>
          </a:solidFill>
          <a:ln w="12700">
            <a:solidFill>
              <a:srgbClr val="1B496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4937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消融实验：Full（完整系统） / No-Graph（关闭图谱扩展） / No-Image（关闭页面原图）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 Demo 展示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402336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371600"/>
            <a:ext cx="73152" cy="1645920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55448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A25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Chat Workspace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85800" y="2011680"/>
            <a:ext cx="34747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6B7B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用户提问与模型回答交互界面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754880" y="1371600"/>
            <a:ext cx="402336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54880" y="1371600"/>
            <a:ext cx="73152" cy="1645920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83480" y="155448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A25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Knowledge Graph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983480" y="2011680"/>
            <a:ext cx="34747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6B7B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vis-network 可视化文档图谱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3291840"/>
            <a:ext cx="402336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7200" y="3291840"/>
            <a:ext cx="73152" cy="1645920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5800" y="347472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A25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Node Inspector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85800" y="3931920"/>
            <a:ext cx="34747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6B7B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节点内容、页码、bbox 局部预览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754880" y="3291840"/>
            <a:ext cx="402336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54880" y="3291840"/>
            <a:ext cx="73152" cy="1645920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83480" y="347472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A25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上传与入库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4983480" y="3931920"/>
            <a:ext cx="34747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6B7B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PDF/图片上传、解析、索引一键完成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57200" y="49377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B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前端基于原生 HTML/CSS/JS + vis-network 构建，支持图谱交互与节点详情查看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算力预算与时间计划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3840480" cy="3291840"/>
          </a:xfrm>
          <a:prstGeom prst="rect">
            <a:avLst/>
          </a:prstGeom>
          <a:solidFill>
            <a:srgbClr val="E8F4F8"/>
          </a:solidFill>
          <a:ln w="12700">
            <a:solidFill>
              <a:srgbClr val="D0E4E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41732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A25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算力与成本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40080" y="192024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本地计算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103120" y="192024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B7B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CPU 即可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242316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GPU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103120" y="242316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B7B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非必需（API 调用）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0080" y="292608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存储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103120" y="292608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B7B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百 MB ~ 数 GB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40080" y="342900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API 成本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103120" y="342900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B7B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与页数/问题数相关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40080" y="393192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网络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103120" y="393192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B7B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构建和问答时需要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754880" y="1280160"/>
            <a:ext cx="393192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937760" y="141732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A25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后续计划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5029200" y="1965960"/>
            <a:ext cx="164592" cy="164592"/>
          </a:xfrm>
          <a:prstGeom prst="ellipse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303520" y="192024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D4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1 周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303520" y="219456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清理图谱噪声、优化关键词过滤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111496" y="2176272"/>
            <a:ext cx="0" cy="411480"/>
          </a:xfrm>
          <a:prstGeom prst="line">
            <a:avLst/>
          </a:prstGeom>
          <a:noFill/>
          <a:ln w="19050">
            <a:solidFill>
              <a:srgbClr val="D0E4EC"/>
            </a:solidFill>
            <a:prstDash val="dash"/>
          </a:ln>
        </p:spPr>
      </p:sp>
      <p:sp>
        <p:nvSpPr>
          <p:cNvPr id="22" name="Shape 20"/>
          <p:cNvSpPr/>
          <p:nvPr/>
        </p:nvSpPr>
        <p:spPr>
          <a:xfrm>
            <a:off x="5029200" y="2606040"/>
            <a:ext cx="164592" cy="164592"/>
          </a:xfrm>
          <a:prstGeom prst="ellipse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303520" y="256032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D4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2 周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303520" y="283464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构建自建测试集、补充 DocVQA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111496" y="2816352"/>
            <a:ext cx="0" cy="411480"/>
          </a:xfrm>
          <a:prstGeom prst="line">
            <a:avLst/>
          </a:prstGeom>
          <a:noFill/>
          <a:ln w="19050">
            <a:solidFill>
              <a:srgbClr val="D0E4EC"/>
            </a:solidFill>
            <a:prstDash val="dash"/>
          </a:ln>
        </p:spPr>
      </p:sp>
      <p:sp>
        <p:nvSpPr>
          <p:cNvPr id="26" name="Shape 24"/>
          <p:cNvSpPr/>
          <p:nvPr/>
        </p:nvSpPr>
        <p:spPr>
          <a:xfrm>
            <a:off x="5029200" y="3246120"/>
            <a:ext cx="164592" cy="164592"/>
          </a:xfrm>
          <a:prstGeom prst="ellipse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303520" y="32004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D4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3 周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303520" y="347472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消融实验：Full / No-Graph / No-Image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5111496" y="3456432"/>
            <a:ext cx="0" cy="411480"/>
          </a:xfrm>
          <a:prstGeom prst="line">
            <a:avLst/>
          </a:prstGeom>
          <a:noFill/>
          <a:ln w="19050">
            <a:solidFill>
              <a:srgbClr val="D0E4EC"/>
            </a:solidFill>
            <a:prstDash val="dash"/>
          </a:ln>
        </p:spPr>
      </p:sp>
      <p:sp>
        <p:nvSpPr>
          <p:cNvPr id="30" name="Shape 28"/>
          <p:cNvSpPr/>
          <p:nvPr/>
        </p:nvSpPr>
        <p:spPr>
          <a:xfrm>
            <a:off x="5029200" y="3886200"/>
            <a:ext cx="164592" cy="164592"/>
          </a:xfrm>
          <a:prstGeom prst="ellipse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303520" y="38404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D4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4 周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5303520" y="411480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完善前端、整理报告与答辩材料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457200" y="4754880"/>
            <a:ext cx="8229600" cy="457200"/>
          </a:xfrm>
          <a:prstGeom prst="rect">
            <a:avLst/>
          </a:prstGeom>
          <a:solidFill>
            <a:srgbClr val="1B4965"/>
          </a:solidFill>
          <a:ln w="12700">
            <a:solidFill>
              <a:srgbClr val="1B496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57200" y="4754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当前进度：工程骨架、文档解析、向量索引、图谱构建、GraphRAG 问答、Web 演示、评测框架 均已完成初版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参考文献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28016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[1] Lewis, P. et al. (2020). Retrieval-Augmented Generation for Knowledge-Intensive NLP Tasks. NeurIPS 2020.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169164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[2] Edge, D. et al. (2024). From Local to Global: A Graph RAG Approach to Query-Focused Summarization. arXiv:2404.16130.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210312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[3] Microsoft GraphRAG Documentation. Query Engine &amp; Indexing Overview.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251460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[4] Mathew, M. et al. (2021). DocVQA: A Dataset for VQA on Document Images. WACV 2021.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292608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[5] Masry, A. et al. (2022). ChartQA: A Benchmark for QA about Charts. Findings of ACL 2022.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333756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[6] Faysse, M. et al. (2024). ColPali: Efficient Document Retrieval with Vision Language Models. arXiv:2407.01449.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48640" y="374904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[7] Qwen Team. Qwen3-VL official repository &amp; model card.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48640" y="416052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[8] Dong, K. et al. (2025). MMDocRAG: Benchmarking Retrieval-Augmented Multimodal Generation for Document QA.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48640" y="457200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[9] Bu, C. et al. (2025). Query-Driven Multimodal GraphRAG. Findings of ACL 2025.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25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0" y="2011680"/>
            <a:ext cx="2743200" cy="0"/>
          </a:xfrm>
          <a:prstGeom prst="line">
            <a:avLst/>
          </a:prstGeom>
          <a:noFill/>
          <a:ln w="25400">
            <a:solidFill>
              <a:srgbClr val="00D4A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22860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感谢聆听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914400" y="32918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D4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欢迎提问与建议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3200400" y="3931920"/>
            <a:ext cx="2743200" cy="0"/>
          </a:xfrm>
          <a:prstGeom prst="line">
            <a:avLst/>
          </a:prstGeom>
          <a:noFill/>
          <a:ln w="25400">
            <a:solidFill>
              <a:srgbClr val="00D4AA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文档理解与多模态 GraphRAG 检索问答系统</dc:title>
  <dc:subject>开题报告答辩 PPT</dc:subject>
  <dc:creator>QClaw</dc:creator>
  <cp:lastModifiedBy>QClaw</cp:lastModifiedBy>
  <cp:revision>1</cp:revision>
  <dcterms:created xsi:type="dcterms:W3CDTF">2026-05-06T11:02:24Z</dcterms:created>
  <dcterms:modified xsi:type="dcterms:W3CDTF">2026-05-06T11:02:24Z</dcterms:modified>
</cp:coreProperties>
</file>