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7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7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7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7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7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7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7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7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7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38504"/>
          </a:xfrm>
          <a:prstGeom prst="rect">
            <a:avLst/>
          </a:prstGeom>
          <a:solidFill>
            <a:srgbClr val="ECE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334195" y="0"/>
            <a:ext cx="2857500" cy="838504"/>
          </a:xfrm>
          <a:prstGeom prst="rect">
            <a:avLst/>
          </a:prstGeom>
          <a:solidFill>
            <a:srgbClr val="E6F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5854903"/>
            <a:ext cx="2361895" cy="1003096"/>
          </a:xfrm>
          <a:prstGeom prst="rect">
            <a:avLst/>
          </a:prstGeom>
          <a:solidFill>
            <a:srgbClr val="EFE6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81304" y="381304"/>
            <a:ext cx="11430000" cy="6096304"/>
          </a:xfrm>
          <a:prstGeom prst="roundRect">
            <a:avLst/>
          </a:prstGeom>
          <a:solidFill>
            <a:srgbClr val="FFFEFC"/>
          </a:solidFill>
          <a:ln w="12700">
            <a:solidFill>
              <a:srgbClr val="D7E1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81304" y="381304"/>
            <a:ext cx="95097" cy="6096304"/>
          </a:xfrm>
          <a:prstGeom prst="rect">
            <a:avLst/>
          </a:prstGeom>
          <a:solidFill>
            <a:srgbClr val="F4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80897" y="1498701"/>
            <a:ext cx="56692" cy="5562295"/>
          </a:xfrm>
          <a:prstGeom prst="rect">
            <a:avLst/>
          </a:prstGeom>
          <a:solidFill>
            <a:srgbClr val="0E7D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9497" y="1473098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A5C50"/>
                </a:solidFill>
                <a:latin typeface="Aptos"/>
              </a:defRPr>
            </a:pPr>
            <a:r>
              <a:t>课程作业开题答辩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9497" y="1880006"/>
            <a:ext cx="4572000" cy="2542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7A8D90"/>
                </a:solidFill>
                <a:latin typeface="Aptos"/>
              </a:defRPr>
            </a:pPr>
            <a:r>
              <a:t>多模态大模型原理与应用 · 题目 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2804" y="2387498"/>
            <a:ext cx="8229600" cy="17273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142A2B"/>
                </a:solidFill>
                <a:latin typeface="PingFang SC"/>
              </a:defRPr>
            </a:pPr>
            <a:r>
              <a:t>文档理解与多模态 GraphRAG 检索问答系统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9497" y="4292193"/>
            <a:ext cx="7315200" cy="838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586D70"/>
                </a:solidFill>
                <a:latin typeface="PingFang SC"/>
              </a:defRPr>
            </a:pPr>
            <a:r>
              <a:t>基于 qwen3-vl-8b-instruct、FAISS 与 networkx 的可追溯文档智能助手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525304" y="1651406"/>
            <a:ext cx="2590495" cy="2210104"/>
          </a:xfrm>
          <a:prstGeom prst="roundRect">
            <a:avLst/>
          </a:prstGeom>
          <a:solidFill>
            <a:srgbClr val="F4F8F6"/>
          </a:solidFill>
          <a:ln w="12700">
            <a:solidFill>
              <a:srgbClr val="D7E1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525304" y="1651406"/>
            <a:ext cx="56692" cy="2210104"/>
          </a:xfrm>
          <a:prstGeom prst="rect">
            <a:avLst/>
          </a:prstGeom>
          <a:solidFill>
            <a:srgbClr val="0E7D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905695" y="1981504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A5C50"/>
                </a:solidFill>
                <a:latin typeface="Aptos"/>
              </a:defRPr>
            </a:pPr>
            <a:r>
              <a:t>核心技术栈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05695" y="2463393"/>
            <a:ext cx="2210104" cy="10158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586D70"/>
                </a:solidFill>
                <a:latin typeface="PingFang SC"/>
              </a:defRPr>
            </a:pPr>
            <a:r>
              <a:t>• qwen3-vl-8b-instruct 文档解析</a:t>
            </a:r>
            <a:br/>
            <a:r>
              <a:t>• FAISS 向量索引 + networkx 图谱</a:t>
            </a:r>
            <a:br/>
            <a:r>
              <a:t>• DashScope API 多模态问答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90295" y="5587898"/>
            <a:ext cx="1975104" cy="405993"/>
          </a:xfrm>
          <a:prstGeom prst="roundRect">
            <a:avLst/>
          </a:prstGeom>
          <a:solidFill>
            <a:srgbClr val="FFFEFC"/>
          </a:solidFill>
          <a:ln w="12700">
            <a:solidFill>
              <a:srgbClr val="D7E1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23797" y="5689396"/>
            <a:ext cx="1708100" cy="202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A5C50"/>
                </a:solidFill>
                <a:latin typeface="PingFang SC"/>
              </a:defRPr>
            </a:pPr>
            <a:r>
              <a:t>多模态 GraphRAG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079699" y="5587898"/>
            <a:ext cx="2286000" cy="405993"/>
          </a:xfrm>
          <a:prstGeom prst="roundRect">
            <a:avLst/>
          </a:prstGeom>
          <a:solidFill>
            <a:srgbClr val="FFFEFC"/>
          </a:solidFill>
          <a:ln w="12700">
            <a:solidFill>
              <a:srgbClr val="D7E1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13201" y="5689396"/>
            <a:ext cx="2018996" cy="202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A5C50"/>
                </a:solidFill>
                <a:latin typeface="PingFang SC"/>
              </a:defRPr>
            </a:pPr>
            <a:r>
              <a:t>DocVQA / ChartQA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79999" y="5587898"/>
            <a:ext cx="2286000" cy="405993"/>
          </a:xfrm>
          <a:prstGeom prst="roundRect">
            <a:avLst/>
          </a:prstGeom>
          <a:solidFill>
            <a:srgbClr val="FFFEFC"/>
          </a:solidFill>
          <a:ln w="12700">
            <a:solidFill>
              <a:srgbClr val="D7E1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13501" y="5689396"/>
            <a:ext cx="2018996" cy="202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A5C50"/>
                </a:solidFill>
                <a:latin typeface="PingFang SC"/>
              </a:defRPr>
            </a:pPr>
            <a:r>
              <a:t>qwen3-vl-8b-instruct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880299" y="5587898"/>
            <a:ext cx="1097280" cy="405993"/>
          </a:xfrm>
          <a:prstGeom prst="roundRect">
            <a:avLst/>
          </a:prstGeom>
          <a:solidFill>
            <a:srgbClr val="FFFEFC"/>
          </a:solidFill>
          <a:ln w="12700">
            <a:solidFill>
              <a:srgbClr val="D7E1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13801" y="5689396"/>
            <a:ext cx="830276" cy="202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A5C50"/>
                </a:solidFill>
                <a:latin typeface="PingFang SC"/>
              </a:defRPr>
            </a:pPr>
            <a:r>
              <a:t>FAISS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091879" y="5587898"/>
            <a:ext cx="1316736" cy="405993"/>
          </a:xfrm>
          <a:prstGeom prst="roundRect">
            <a:avLst/>
          </a:prstGeom>
          <a:solidFill>
            <a:srgbClr val="FFFEFC"/>
          </a:solidFill>
          <a:ln w="12700">
            <a:solidFill>
              <a:srgbClr val="D7E1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25381" y="5689396"/>
            <a:ext cx="1049732" cy="202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A5C50"/>
                </a:solidFill>
                <a:latin typeface="PingFang SC"/>
              </a:defRPr>
            </a:pPr>
            <a:r>
              <a:t>networkx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90295" y="6578193"/>
            <a:ext cx="2933395" cy="761695"/>
          </a:xfrm>
          <a:prstGeom prst="roundRect">
            <a:avLst/>
          </a:prstGeom>
          <a:solidFill>
            <a:srgbClr val="FFFEFC"/>
          </a:solidFill>
          <a:ln w="12700">
            <a:solidFill>
              <a:srgbClr val="D7E1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90295" y="6578193"/>
            <a:ext cx="56692" cy="761695"/>
          </a:xfrm>
          <a:prstGeom prst="rect">
            <a:avLst/>
          </a:prstGeom>
          <a:solidFill>
            <a:srgbClr val="0E7D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218895" y="6730898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7A8D90"/>
                </a:solidFill>
                <a:latin typeface="PingFang SC"/>
              </a:defRPr>
            </a:pPr>
            <a:r>
              <a:t>核心技术栈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18895" y="6959498"/>
            <a:ext cx="2560320" cy="381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42A2B"/>
                </a:solidFill>
                <a:latin typeface="PingFang SC"/>
              </a:defRPr>
            </a:pPr>
            <a:r>
              <a:t>qwen3-vl-8b-instruct + FAISS + networkx + DashScope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095597" y="6578193"/>
            <a:ext cx="2933395" cy="761695"/>
          </a:xfrm>
          <a:prstGeom prst="roundRect">
            <a:avLst/>
          </a:prstGeom>
          <a:solidFill>
            <a:srgbClr val="FFFEFC"/>
          </a:solidFill>
          <a:ln w="12700">
            <a:solidFill>
              <a:srgbClr val="D7E1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095597" y="6578193"/>
            <a:ext cx="56692" cy="761695"/>
          </a:xfrm>
          <a:prstGeom prst="rect">
            <a:avLst/>
          </a:prstGeom>
          <a:solidFill>
            <a:srgbClr val="0E7D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24197" y="6730898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7A8D90"/>
                </a:solidFill>
                <a:latin typeface="PingFang SC"/>
              </a:defRPr>
            </a:pPr>
            <a:r>
              <a:t>当前状态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24197" y="6959498"/>
            <a:ext cx="2560320" cy="381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42A2B"/>
                </a:solidFill>
                <a:latin typeface="PingFang SC"/>
              </a:defRPr>
            </a:pPr>
            <a:r>
              <a:t>原型系统已完成，进入评测阶段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38504"/>
          </a:xfrm>
          <a:prstGeom prst="rect">
            <a:avLst/>
          </a:prstGeom>
          <a:solidFill>
            <a:srgbClr val="ECE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334195" y="0"/>
            <a:ext cx="2857500" cy="838504"/>
          </a:xfrm>
          <a:prstGeom prst="rect">
            <a:avLst/>
          </a:prstGeom>
          <a:solidFill>
            <a:srgbClr val="E6F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5854903"/>
            <a:ext cx="2361895" cy="1003096"/>
          </a:xfrm>
          <a:prstGeom prst="rect">
            <a:avLst/>
          </a:prstGeom>
          <a:solidFill>
            <a:srgbClr val="EA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81304" y="381304"/>
            <a:ext cx="11430000" cy="6096304"/>
          </a:xfrm>
          <a:prstGeom prst="roundRect">
            <a:avLst/>
          </a:prstGeom>
          <a:solidFill>
            <a:srgbClr val="FFFEFC"/>
          </a:solidFill>
          <a:ln w="12700">
            <a:solidFill>
              <a:srgbClr val="D7E1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81304" y="381304"/>
            <a:ext cx="95097" cy="6096304"/>
          </a:xfrm>
          <a:prstGeom prst="rect">
            <a:avLst/>
          </a:prstGeom>
          <a:solidFill>
            <a:srgbClr val="F4F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42492" y="724204"/>
            <a:ext cx="38404" cy="228600"/>
          </a:xfrm>
          <a:prstGeom prst="rect">
            <a:avLst/>
          </a:prstGeom>
          <a:solidFill>
            <a:srgbClr val="0E7D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5995" y="6858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A5C50"/>
                </a:solidFill>
                <a:latin typeface="Aptos"/>
              </a:defRPr>
            </a:pPr>
            <a:r>
              <a:t>01 · 任务背景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705795" y="622706"/>
            <a:ext cx="952804" cy="431596"/>
          </a:xfrm>
          <a:prstGeom prst="roundRect">
            <a:avLst/>
          </a:prstGeom>
          <a:solidFill>
            <a:srgbClr val="F4F8F6"/>
          </a:solidFill>
          <a:ln w="12700">
            <a:solidFill>
              <a:srgbClr val="D7E1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858500" y="711403"/>
            <a:ext cx="685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A5C50"/>
                </a:solidFill>
                <a:latin typeface="Aptos"/>
              </a:defRPr>
            </a:pPr>
            <a:r>
              <a:t>02 / 08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42492" y="1194206"/>
            <a:ext cx="10763402" cy="19202"/>
          </a:xfrm>
          <a:prstGeom prst="rect">
            <a:avLst/>
          </a:prstGeom>
          <a:solidFill>
            <a:srgbClr val="D7E1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8504" y="1397203"/>
            <a:ext cx="9144000" cy="761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42A2B"/>
                </a:solidFill>
                <a:latin typeface="PingFang SC"/>
              </a:defRPr>
            </a:pPr>
            <a:r>
              <a:t>为什么纯文本 RAG 不够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4204" y="3226003"/>
            <a:ext cx="3333902" cy="3174796"/>
          </a:xfrm>
          <a:prstGeom prst="roundRect">
            <a:avLst/>
          </a:prstGeom>
          <a:solidFill>
            <a:srgbClr val="FFFEFC"/>
          </a:solidFill>
          <a:ln w="12700">
            <a:solidFill>
              <a:srgbClr val="D7E1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24204" y="3226003"/>
            <a:ext cx="56692" cy="3174796"/>
          </a:xfrm>
          <a:prstGeom prst="rect">
            <a:avLst/>
          </a:prstGeom>
          <a:solidFill>
            <a:srgbClr val="0E7D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52804" y="3435400"/>
            <a:ext cx="431596" cy="431596"/>
          </a:xfrm>
          <a:prstGeom prst="ellipse">
            <a:avLst/>
          </a:prstGeom>
          <a:solidFill>
            <a:srgbClr val="E6F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2707" y="3549700"/>
            <a:ext cx="152704" cy="152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A5C50"/>
                </a:solidFill>
                <a:latin typeface="PingFang SC"/>
              </a:defRPr>
            </a:pPr>
            <a:r>
              <a:t>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2804" y="4140403"/>
            <a:ext cx="2743200" cy="381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42A2B"/>
                </a:solidFill>
                <a:latin typeface="PingFang SC"/>
              </a:defRPr>
            </a:pPr>
            <a:r>
              <a:t>视觉信息丢失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2804" y="4774996"/>
            <a:ext cx="2838297" cy="11686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586D70"/>
                </a:solidFill>
                <a:latin typeface="PingFang SC"/>
              </a:defRPr>
            </a:pPr>
            <a:r>
              <a:t>图表趋势、版面结构、颜色标记、坐标轴和表格边界很难被纯文本准确保留。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86706" y="3226003"/>
            <a:ext cx="3333902" cy="3174796"/>
          </a:xfrm>
          <a:prstGeom prst="roundRect">
            <a:avLst/>
          </a:prstGeom>
          <a:solidFill>
            <a:srgbClr val="FFFEFC"/>
          </a:solidFill>
          <a:ln w="12700">
            <a:solidFill>
              <a:srgbClr val="D7E1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286706" y="3226003"/>
            <a:ext cx="56692" cy="3174796"/>
          </a:xfrm>
          <a:prstGeom prst="rect">
            <a:avLst/>
          </a:prstGeom>
          <a:solidFill>
            <a:srgbClr val="0E7D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515306" y="3435400"/>
            <a:ext cx="431596" cy="431596"/>
          </a:xfrm>
          <a:prstGeom prst="ellipse">
            <a:avLst/>
          </a:prstGeom>
          <a:solidFill>
            <a:srgbClr val="E6F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55209" y="3549700"/>
            <a:ext cx="152704" cy="152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A5C50"/>
                </a:solidFill>
                <a:latin typeface="PingFang SC"/>
              </a:defRPr>
            </a:pPr>
            <a:r>
              <a:t>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15306" y="4140403"/>
            <a:ext cx="2743200" cy="381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42A2B"/>
                </a:solidFill>
                <a:latin typeface="PingFang SC"/>
              </a:defRPr>
            </a:pPr>
            <a:r>
              <a:t>结构关系不足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15306" y="4774996"/>
            <a:ext cx="2838297" cy="11686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586D70"/>
                </a:solidFill>
                <a:latin typeface="PingFang SC"/>
              </a:defRPr>
            </a:pPr>
            <a:r>
              <a:t>同一页内的图文对应、跨页段落延续、图号与结论之间的支撑关系无法仅靠向量相似度稳定表达。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849208" y="3226003"/>
            <a:ext cx="3333902" cy="3174796"/>
          </a:xfrm>
          <a:prstGeom prst="roundRect">
            <a:avLst/>
          </a:prstGeom>
          <a:solidFill>
            <a:srgbClr val="FFFEFC"/>
          </a:solidFill>
          <a:ln w="12700">
            <a:solidFill>
              <a:srgbClr val="D7E1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849208" y="3226003"/>
            <a:ext cx="56692" cy="3174796"/>
          </a:xfrm>
          <a:prstGeom prst="rect">
            <a:avLst/>
          </a:prstGeom>
          <a:solidFill>
            <a:srgbClr val="0E7D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077808" y="3435400"/>
            <a:ext cx="431596" cy="431596"/>
          </a:xfrm>
          <a:prstGeom prst="ellipse">
            <a:avLst/>
          </a:prstGeom>
          <a:solidFill>
            <a:srgbClr val="E6F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17711" y="3549700"/>
            <a:ext cx="152704" cy="152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A5C50"/>
                </a:solidFill>
                <a:latin typeface="PingFang SC"/>
              </a:defRPr>
            </a:pPr>
            <a:r>
              <a:t>C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77808" y="4140403"/>
            <a:ext cx="2743200" cy="381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42A2B"/>
                </a:solidFill>
                <a:latin typeface="PingFang SC"/>
              </a:defRPr>
            </a:pPr>
            <a:r>
              <a:t>证据链不可解释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77808" y="4774996"/>
            <a:ext cx="2838297" cy="11686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586D70"/>
                </a:solidFill>
                <a:latin typeface="PingFang SC"/>
              </a:defRPr>
            </a:pPr>
            <a:r>
              <a:t>向量检索可以找到相似片段，但不擅长回答"某结论由哪些图表和实验支撑"这类多跳问题。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24204" y="6858000"/>
            <a:ext cx="10668304" cy="881481"/>
          </a:xfrm>
          <a:prstGeom prst="roundRect">
            <a:avLst/>
          </a:prstGeom>
          <a:solidFill>
            <a:srgbClr val="F4F8F6"/>
          </a:solidFill>
          <a:ln w="12700">
            <a:solidFill>
              <a:srgbClr val="D7E1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14400" y="7035393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A5C50"/>
                </a:solidFill>
                <a:latin typeface="PingFang SC"/>
              </a:defRPr>
            </a:pPr>
            <a:r>
              <a:t>系统要做什么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" y="7263993"/>
            <a:ext cx="10058400" cy="381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42A2B"/>
                </a:solidFill>
                <a:latin typeface="PingFang SC"/>
              </a:defRPr>
            </a:pPr>
            <a:r>
              <a:t>上传多页 PDF 或图像后，系统同时构建文本/图表片段、页面图像证据、关键词/关系节点和跨页连接，使回答既能利用多模态证据，又能给出可追溯的页码、节点和关系依据。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38504"/>
          </a:xfrm>
          <a:prstGeom prst="rect">
            <a:avLst/>
          </a:prstGeom>
          <a:solidFill>
            <a:srgbClr val="ECE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334195" y="0"/>
            <a:ext cx="2857500" cy="838504"/>
          </a:xfrm>
          <a:prstGeom prst="rect">
            <a:avLst/>
          </a:prstGeom>
          <a:solidFill>
            <a:srgbClr val="E6F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5854903"/>
            <a:ext cx="2361895" cy="1003096"/>
          </a:xfrm>
          <a:prstGeom prst="rect">
            <a:avLst/>
          </a:prstGeom>
          <a:solidFill>
            <a:srgbClr val="EA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81304" y="381304"/>
            <a:ext cx="11430000" cy="6096304"/>
          </a:xfrm>
          <a:prstGeom prst="roundRect">
            <a:avLst/>
          </a:prstGeom>
          <a:solidFill>
            <a:srgbClr val="FFFEFC"/>
          </a:solidFill>
          <a:ln w="12700">
            <a:solidFill>
              <a:srgbClr val="D7E1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81304" y="381304"/>
            <a:ext cx="95097" cy="6096304"/>
          </a:xfrm>
          <a:prstGeom prst="rect">
            <a:avLst/>
          </a:prstGeom>
          <a:solidFill>
            <a:srgbClr val="F4F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42492" y="724204"/>
            <a:ext cx="38404" cy="228600"/>
          </a:xfrm>
          <a:prstGeom prst="rect">
            <a:avLst/>
          </a:prstGeom>
          <a:solidFill>
            <a:srgbClr val="0E7D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5995" y="6858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A5C50"/>
                </a:solidFill>
                <a:latin typeface="Aptos"/>
              </a:defRPr>
            </a:pPr>
            <a:r>
              <a:t>02 · 系统总览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705795" y="622706"/>
            <a:ext cx="952804" cy="431596"/>
          </a:xfrm>
          <a:prstGeom prst="roundRect">
            <a:avLst/>
          </a:prstGeom>
          <a:solidFill>
            <a:srgbClr val="F4F8F6"/>
          </a:solidFill>
          <a:ln w="12700">
            <a:solidFill>
              <a:srgbClr val="D7E1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858500" y="711403"/>
            <a:ext cx="685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A5C50"/>
                </a:solidFill>
                <a:latin typeface="Aptos"/>
              </a:defRPr>
            </a:pPr>
            <a:r>
              <a:t>03 / 08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42492" y="1194206"/>
            <a:ext cx="10763402" cy="19202"/>
          </a:xfrm>
          <a:prstGeom prst="rect">
            <a:avLst/>
          </a:prstGeom>
          <a:solidFill>
            <a:srgbClr val="D7E1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8504" y="1397203"/>
            <a:ext cx="9144000" cy="761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42A2B"/>
                </a:solidFill>
                <a:latin typeface="PingFang SC"/>
              </a:defRPr>
            </a:pPr>
            <a:r>
              <a:t>系统怎么跑起来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504" y="2158898"/>
            <a:ext cx="9144000" cy="381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586D70"/>
                </a:solidFill>
                <a:latin typeface="PingFang SC"/>
              </a:defRPr>
            </a:pPr>
            <a:r>
              <a:t>知识库构建 + 在线问答 + 前端展示三条链路</a:t>
            </a:r>
          </a:p>
        </p:txBody>
      </p:sp>
      <p:pic>
        <p:nvPicPr>
          <p:cNvPr id="15" name="Picture 14" descr="image1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2691993"/>
            <a:ext cx="10515600" cy="7010400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685800" y="8255203"/>
            <a:ext cx="10515600" cy="381304"/>
          </a:xfrm>
          <a:prstGeom prst="roundRect">
            <a:avLst/>
          </a:prstGeom>
          <a:solidFill>
            <a:srgbClr val="F4F8F6"/>
          </a:solidFill>
          <a:ln w="12700">
            <a:solidFill>
              <a:srgbClr val="D7E1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8331098"/>
            <a:ext cx="10058400" cy="2542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586D70"/>
                </a:solidFill>
                <a:latin typeface="PingFang SC"/>
              </a:defRPr>
            </a:pPr>
            <a:r>
              <a:t>PyMuPDF → qwen3-vl-8b-instruct → FAISS + networkx → 多模态问答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38504"/>
          </a:xfrm>
          <a:prstGeom prst="rect">
            <a:avLst/>
          </a:prstGeom>
          <a:solidFill>
            <a:srgbClr val="ECE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334195" y="0"/>
            <a:ext cx="2857500" cy="838504"/>
          </a:xfrm>
          <a:prstGeom prst="rect">
            <a:avLst/>
          </a:prstGeom>
          <a:solidFill>
            <a:srgbClr val="E6F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5854903"/>
            <a:ext cx="2361895" cy="1003096"/>
          </a:xfrm>
          <a:prstGeom prst="rect">
            <a:avLst/>
          </a:prstGeom>
          <a:solidFill>
            <a:srgbClr val="EA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81304" y="381304"/>
            <a:ext cx="11430000" cy="6096304"/>
          </a:xfrm>
          <a:prstGeom prst="roundRect">
            <a:avLst/>
          </a:prstGeom>
          <a:solidFill>
            <a:srgbClr val="FFFEFC"/>
          </a:solidFill>
          <a:ln w="12700">
            <a:solidFill>
              <a:srgbClr val="D7E1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81304" y="381304"/>
            <a:ext cx="95097" cy="6096304"/>
          </a:xfrm>
          <a:prstGeom prst="rect">
            <a:avLst/>
          </a:prstGeom>
          <a:solidFill>
            <a:srgbClr val="F4F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42492" y="724204"/>
            <a:ext cx="38404" cy="228600"/>
          </a:xfrm>
          <a:prstGeom prst="rect">
            <a:avLst/>
          </a:prstGeom>
          <a:solidFill>
            <a:srgbClr val="0E7D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5995" y="6858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A5C50"/>
                </a:solidFill>
                <a:latin typeface="Aptos"/>
              </a:defRPr>
            </a:pPr>
            <a:r>
              <a:t>03 · 实验设计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705795" y="622706"/>
            <a:ext cx="952804" cy="431596"/>
          </a:xfrm>
          <a:prstGeom prst="roundRect">
            <a:avLst/>
          </a:prstGeom>
          <a:solidFill>
            <a:srgbClr val="F4F8F6"/>
          </a:solidFill>
          <a:ln w="12700">
            <a:solidFill>
              <a:srgbClr val="D7E1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858500" y="711403"/>
            <a:ext cx="685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A5C50"/>
                </a:solidFill>
                <a:latin typeface="Aptos"/>
              </a:defRPr>
            </a:pPr>
            <a:r>
              <a:t>04 / 08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42492" y="1194206"/>
            <a:ext cx="10763402" cy="19202"/>
          </a:xfrm>
          <a:prstGeom prst="rect">
            <a:avLst/>
          </a:prstGeom>
          <a:solidFill>
            <a:srgbClr val="D7E1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8504" y="1397203"/>
            <a:ext cx="9144000" cy="761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42A2B"/>
                </a:solidFill>
                <a:latin typeface="PingFang SC"/>
              </a:defRPr>
            </a:pPr>
            <a:r>
              <a:t>评测什么、怎么评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4204" y="3149193"/>
            <a:ext cx="3333902" cy="1854403"/>
          </a:xfrm>
          <a:prstGeom prst="roundRect">
            <a:avLst/>
          </a:prstGeom>
          <a:solidFill>
            <a:srgbClr val="FFFEFC"/>
          </a:solidFill>
          <a:ln w="12700">
            <a:solidFill>
              <a:srgbClr val="D7E1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52804" y="3428999"/>
            <a:ext cx="1097280" cy="202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A5C50"/>
                </a:solidFill>
                <a:latin typeface="PingFang SC"/>
              </a:defRPr>
            </a:pPr>
            <a:r>
              <a:t>数据集 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2804" y="3759097"/>
            <a:ext cx="2190902" cy="3044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42A2B"/>
                </a:solidFill>
                <a:latin typeface="PingFang SC"/>
              </a:defRPr>
            </a:pPr>
            <a:r>
              <a:t>自建长文档测试集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2804" y="4240986"/>
            <a:ext cx="2743200" cy="5330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86D70"/>
                </a:solidFill>
                <a:latin typeface="PingFang SC"/>
              </a:defRPr>
            </a:pPr>
            <a:r>
              <a:t>3-5 篇含图表、表格、跨页段落和结论引用的论文，人工编写问题。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67503" y="3149193"/>
            <a:ext cx="3333902" cy="1854403"/>
          </a:xfrm>
          <a:prstGeom prst="roundRect">
            <a:avLst/>
          </a:prstGeom>
          <a:solidFill>
            <a:srgbClr val="FFFEFC"/>
          </a:solidFill>
          <a:ln w="12700">
            <a:solidFill>
              <a:srgbClr val="D7E1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96103" y="3428999"/>
            <a:ext cx="1097280" cy="202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A5C50"/>
                </a:solidFill>
                <a:latin typeface="PingFang SC"/>
              </a:defRPr>
            </a:pPr>
            <a:r>
              <a:t>数据集 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96103" y="3759097"/>
            <a:ext cx="2190902" cy="3044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42A2B"/>
                </a:solidFill>
                <a:latin typeface="PingFang SC"/>
              </a:defRPr>
            </a:pPr>
            <a:r>
              <a:t>DocVQA 子集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96103" y="4240986"/>
            <a:ext cx="2743200" cy="5330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86D70"/>
                </a:solidFill>
                <a:latin typeface="PingFang SC"/>
              </a:defRPr>
            </a:pPr>
            <a:r>
              <a:t>公开 DocVQA 验证样本，评估单页文档问答抽取式准确性。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810802" y="3149193"/>
            <a:ext cx="3333902" cy="1854403"/>
          </a:xfrm>
          <a:prstGeom prst="roundRect">
            <a:avLst/>
          </a:prstGeom>
          <a:solidFill>
            <a:srgbClr val="FFFEFC"/>
          </a:solidFill>
          <a:ln w="12700">
            <a:solidFill>
              <a:srgbClr val="D7E1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39402" y="3428999"/>
            <a:ext cx="1097280" cy="202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A5C50"/>
                </a:solidFill>
                <a:latin typeface="PingFang SC"/>
              </a:defRPr>
            </a:pPr>
            <a:r>
              <a:t>数据集 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39402" y="3759097"/>
            <a:ext cx="2190902" cy="3044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42A2B"/>
                </a:solidFill>
                <a:latin typeface="PingFang SC"/>
              </a:defRPr>
            </a:pPr>
            <a:r>
              <a:t>ChartQA 子集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39402" y="4240986"/>
            <a:ext cx="2743200" cy="5330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86D70"/>
                </a:solidFill>
                <a:latin typeface="PingFang SC"/>
              </a:defRPr>
            </a:pPr>
            <a:r>
              <a:t>图表推理问题，观察页面原图和图表描述的作用。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24204" y="5460796"/>
            <a:ext cx="10668304" cy="2413101"/>
          </a:xfrm>
          <a:prstGeom prst="roundRect">
            <a:avLst/>
          </a:prstGeom>
          <a:solidFill>
            <a:srgbClr val="F4F8F6"/>
          </a:solidFill>
          <a:ln w="12700">
            <a:solidFill>
              <a:srgbClr val="D7E1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24204" y="5460796"/>
            <a:ext cx="56692" cy="2413101"/>
          </a:xfrm>
          <a:prstGeom prst="rect">
            <a:avLst/>
          </a:prstGeom>
          <a:solidFill>
            <a:srgbClr val="0E7D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52804" y="5689396"/>
            <a:ext cx="1371600" cy="202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A5C50"/>
                </a:solidFill>
                <a:latin typeface="PingFang SC"/>
              </a:defRPr>
            </a:pPr>
            <a:r>
              <a:t>消融实验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2804" y="5969203"/>
            <a:ext cx="4572000" cy="381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42A2B"/>
                </a:solidFill>
                <a:latin typeface="PingFang SC"/>
              </a:defRPr>
            </a:pPr>
            <a:r>
              <a:t>Full / No-Graph / No-Image / Short-Answer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52804" y="6426403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586D70"/>
                </a:solidFill>
                <a:latin typeface="PingFang SC"/>
              </a:defRPr>
            </a:pPr>
            <a:r>
              <a:t>• Full：向量召回 + 图谱扩展 + 社区 profile + 页面图像</a:t>
            </a:r>
            <a:br/>
            <a:r>
              <a:t>• No-Graph：关闭图谱扩展，观察多跳问题下降幅度</a:t>
            </a:r>
            <a:br/>
            <a:r>
              <a:t>• No-Image：关闭页面原图输入，观察图表题下降幅度</a:t>
            </a:r>
            <a:br/>
            <a:r>
              <a:t>• Short-Answer Eval：约束输出为短答案，计算 ANLS/EM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38504"/>
          </a:xfrm>
          <a:prstGeom prst="rect">
            <a:avLst/>
          </a:prstGeom>
          <a:solidFill>
            <a:srgbClr val="ECE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334195" y="0"/>
            <a:ext cx="2857500" cy="838504"/>
          </a:xfrm>
          <a:prstGeom prst="rect">
            <a:avLst/>
          </a:prstGeom>
          <a:solidFill>
            <a:srgbClr val="E6F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5854903"/>
            <a:ext cx="2361895" cy="1003096"/>
          </a:xfrm>
          <a:prstGeom prst="rect">
            <a:avLst/>
          </a:prstGeom>
          <a:solidFill>
            <a:srgbClr val="EA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81304" y="381304"/>
            <a:ext cx="11430000" cy="6096304"/>
          </a:xfrm>
          <a:prstGeom prst="roundRect">
            <a:avLst/>
          </a:prstGeom>
          <a:solidFill>
            <a:srgbClr val="FFFEFC"/>
          </a:solidFill>
          <a:ln w="12700">
            <a:solidFill>
              <a:srgbClr val="D7E1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81304" y="381304"/>
            <a:ext cx="95097" cy="6096304"/>
          </a:xfrm>
          <a:prstGeom prst="rect">
            <a:avLst/>
          </a:prstGeom>
          <a:solidFill>
            <a:srgbClr val="F4F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42492" y="724204"/>
            <a:ext cx="38404" cy="228600"/>
          </a:xfrm>
          <a:prstGeom prst="rect">
            <a:avLst/>
          </a:prstGeom>
          <a:solidFill>
            <a:srgbClr val="0E7D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5995" y="6858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A5C50"/>
                </a:solidFill>
                <a:latin typeface="Aptos"/>
              </a:defRPr>
            </a:pPr>
            <a:r>
              <a:t>04 · Demo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705795" y="622706"/>
            <a:ext cx="952804" cy="431596"/>
          </a:xfrm>
          <a:prstGeom prst="roundRect">
            <a:avLst/>
          </a:prstGeom>
          <a:solidFill>
            <a:srgbClr val="F4F8F6"/>
          </a:solidFill>
          <a:ln w="12700">
            <a:solidFill>
              <a:srgbClr val="D7E1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858500" y="711403"/>
            <a:ext cx="685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A5C50"/>
                </a:solidFill>
                <a:latin typeface="Aptos"/>
              </a:defRPr>
            </a:pPr>
            <a:r>
              <a:t>05 / 08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42492" y="1194206"/>
            <a:ext cx="10763402" cy="19202"/>
          </a:xfrm>
          <a:prstGeom prst="rect">
            <a:avLst/>
          </a:prstGeom>
          <a:solidFill>
            <a:srgbClr val="D7E1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8504" y="1397203"/>
            <a:ext cx="9144000" cy="761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42A2B"/>
                </a:solidFill>
                <a:latin typeface="PingFang SC"/>
              </a:defRPr>
            </a:pPr>
            <a:r>
              <a:t>Knowledge Flow Studio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504" y="2158898"/>
            <a:ext cx="9144000" cy="381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586D70"/>
                </a:solidFill>
                <a:latin typeface="PingFang SC"/>
              </a:defRPr>
            </a:pPr>
            <a:r>
              <a:t>问答、知识图谱、节点检查、页面预览四块功能</a:t>
            </a:r>
          </a:p>
        </p:txBody>
      </p:sp>
      <p:pic>
        <p:nvPicPr>
          <p:cNvPr id="15" name="Picture 14" descr="image2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2540203"/>
            <a:ext cx="10515600" cy="6338514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1714044" y="8382304"/>
            <a:ext cx="1828800" cy="355701"/>
          </a:xfrm>
          <a:prstGeom prst="roundRect">
            <a:avLst/>
          </a:prstGeom>
          <a:solidFill>
            <a:srgbClr val="E6F1EE"/>
          </a:solidFill>
          <a:ln>
            <a:solidFill>
              <a:srgbClr val="D7E1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714044" y="8432596"/>
            <a:ext cx="1828800" cy="2542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A5C50"/>
                </a:solidFill>
                <a:latin typeface="PingFang SC"/>
              </a:defRPr>
            </a:pPr>
            <a:r>
              <a:t>问答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924148" y="8382304"/>
            <a:ext cx="1828800" cy="355701"/>
          </a:xfrm>
          <a:prstGeom prst="roundRect">
            <a:avLst/>
          </a:prstGeom>
          <a:solidFill>
            <a:srgbClr val="E6F1EE"/>
          </a:solidFill>
          <a:ln>
            <a:solidFill>
              <a:srgbClr val="D7E1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924148" y="8432596"/>
            <a:ext cx="1828800" cy="2542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A5C50"/>
                </a:solidFill>
                <a:latin typeface="PingFang SC"/>
              </a:defRPr>
            </a:pPr>
            <a:r>
              <a:t>知识图谱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34252" y="8382304"/>
            <a:ext cx="1828800" cy="355701"/>
          </a:xfrm>
          <a:prstGeom prst="roundRect">
            <a:avLst/>
          </a:prstGeom>
          <a:solidFill>
            <a:srgbClr val="E6F1EE"/>
          </a:solidFill>
          <a:ln>
            <a:solidFill>
              <a:srgbClr val="D7E1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34252" y="8432596"/>
            <a:ext cx="1828800" cy="2542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A5C50"/>
                </a:solidFill>
                <a:latin typeface="PingFang SC"/>
              </a:defRPr>
            </a:pPr>
            <a:r>
              <a:t>节点检查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344356" y="8382304"/>
            <a:ext cx="1828800" cy="355701"/>
          </a:xfrm>
          <a:prstGeom prst="roundRect">
            <a:avLst/>
          </a:prstGeom>
          <a:solidFill>
            <a:srgbClr val="E6F1EE"/>
          </a:solidFill>
          <a:ln>
            <a:solidFill>
              <a:srgbClr val="D7E1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44356" y="8432596"/>
            <a:ext cx="1828800" cy="2542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A5C50"/>
                </a:solidFill>
                <a:latin typeface="PingFang SC"/>
              </a:defRPr>
            </a:pPr>
            <a:r>
              <a:t>页面预览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38504"/>
          </a:xfrm>
          <a:prstGeom prst="rect">
            <a:avLst/>
          </a:prstGeom>
          <a:solidFill>
            <a:srgbClr val="ECE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334195" y="0"/>
            <a:ext cx="2857500" cy="838504"/>
          </a:xfrm>
          <a:prstGeom prst="rect">
            <a:avLst/>
          </a:prstGeom>
          <a:solidFill>
            <a:srgbClr val="E6F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5854903"/>
            <a:ext cx="2361895" cy="1003096"/>
          </a:xfrm>
          <a:prstGeom prst="rect">
            <a:avLst/>
          </a:prstGeom>
          <a:solidFill>
            <a:srgbClr val="EFE6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81304" y="381304"/>
            <a:ext cx="11430000" cy="6096304"/>
          </a:xfrm>
          <a:prstGeom prst="roundRect">
            <a:avLst/>
          </a:prstGeom>
          <a:solidFill>
            <a:srgbClr val="FFFEFC"/>
          </a:solidFill>
          <a:ln w="12700">
            <a:solidFill>
              <a:srgbClr val="D7E1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81304" y="381304"/>
            <a:ext cx="95097" cy="6096304"/>
          </a:xfrm>
          <a:prstGeom prst="rect">
            <a:avLst/>
          </a:prstGeom>
          <a:solidFill>
            <a:srgbClr val="F4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42492" y="724204"/>
            <a:ext cx="38404" cy="228600"/>
          </a:xfrm>
          <a:prstGeom prst="rect">
            <a:avLst/>
          </a:prstGeom>
          <a:solidFill>
            <a:srgbClr val="0E7D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5995" y="6858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A5C50"/>
                </a:solidFill>
                <a:latin typeface="Aptos"/>
              </a:defRPr>
            </a:pPr>
            <a:r>
              <a:t>05 · 算力和计划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705795" y="622706"/>
            <a:ext cx="952804" cy="431596"/>
          </a:xfrm>
          <a:prstGeom prst="roundRect">
            <a:avLst/>
          </a:prstGeom>
          <a:solidFill>
            <a:srgbClr val="F4F8F6"/>
          </a:solidFill>
          <a:ln w="12700">
            <a:solidFill>
              <a:srgbClr val="D7E1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858500" y="711403"/>
            <a:ext cx="685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A5C50"/>
                </a:solidFill>
                <a:latin typeface="Aptos"/>
              </a:defRPr>
            </a:pPr>
            <a:r>
              <a:t>06 / 08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42492" y="1194206"/>
            <a:ext cx="10763402" cy="19202"/>
          </a:xfrm>
          <a:prstGeom prst="rect">
            <a:avLst/>
          </a:prstGeom>
          <a:solidFill>
            <a:srgbClr val="D7E1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8504" y="1397203"/>
            <a:ext cx="9144000" cy="761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42A2B"/>
                </a:solidFill>
                <a:latin typeface="PingFang SC"/>
              </a:defRPr>
            </a:pPr>
            <a:r>
              <a:t>算力预算与时间计划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4204" y="3149193"/>
            <a:ext cx="5143500" cy="4826203"/>
          </a:xfrm>
          <a:prstGeom prst="roundRect">
            <a:avLst/>
          </a:prstGeom>
          <a:solidFill>
            <a:srgbClr val="FFFEFC"/>
          </a:solidFill>
          <a:ln w="12700">
            <a:solidFill>
              <a:srgbClr val="D7E1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24204" y="3149193"/>
            <a:ext cx="56692" cy="4826203"/>
          </a:xfrm>
          <a:prstGeom prst="rect">
            <a:avLst/>
          </a:prstGeom>
          <a:solidFill>
            <a:srgbClr val="0E7D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90295" y="3429000"/>
            <a:ext cx="1828800" cy="2542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A5C50"/>
                </a:solidFill>
                <a:latin typeface="PingFang SC"/>
              </a:defRPr>
            </a:pPr>
            <a:r>
              <a:t>算力与成本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0295" y="3937406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A5C50"/>
                </a:solidFill>
                <a:latin typeface="PingFang SC"/>
              </a:defRPr>
            </a:pPr>
            <a:r>
              <a:t>本地计算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00707" y="3937406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42A2B"/>
                </a:solidFill>
                <a:latin typeface="PingFang SC"/>
              </a:defRPr>
            </a:pPr>
            <a:r>
              <a:t>CPU 即可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90295" y="4191609"/>
            <a:ext cx="4572000" cy="381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86D70"/>
                </a:solidFill>
                <a:latin typeface="PingFang SC"/>
              </a:defRPr>
            </a:pPr>
            <a:r>
              <a:t>PDF 渲染、FAISS、networkx 和 Flask 均可本地运行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90295" y="4724704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A5C50"/>
                </a:solidFill>
                <a:latin typeface="PingFang SC"/>
              </a:defRPr>
            </a:pPr>
            <a:r>
              <a:t>GPU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00707" y="4724704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42A2B"/>
                </a:solidFill>
                <a:latin typeface="PingFang SC"/>
              </a:defRPr>
            </a:pPr>
            <a:r>
              <a:t>非必需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90295" y="4978907"/>
            <a:ext cx="4572000" cy="381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86D70"/>
                </a:solidFill>
                <a:latin typeface="PingFang SC"/>
              </a:defRPr>
            </a:pPr>
            <a:r>
              <a:t>使用 DashScope API 调用 qwen3-vl-8b-instruct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0295" y="5512002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A5C50"/>
                </a:solidFill>
                <a:latin typeface="PingFang SC"/>
              </a:defRPr>
            </a:pPr>
            <a:r>
              <a:t>存储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00707" y="5512002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42A2B"/>
                </a:solidFill>
                <a:latin typeface="PingFang SC"/>
              </a:defRPr>
            </a:pPr>
            <a:r>
              <a:t>百 MB 到数 GB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0295" y="5766205"/>
            <a:ext cx="4572000" cy="381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86D70"/>
                </a:solidFill>
                <a:latin typeface="PingFang SC"/>
              </a:defRPr>
            </a:pPr>
            <a:r>
              <a:t>页面图片、FAISS 索引、JSON 解析结果和图谱文件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90295" y="629930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A5C50"/>
                </a:solidFill>
                <a:latin typeface="PingFang SC"/>
              </a:defRPr>
            </a:pPr>
            <a:r>
              <a:t>API 成本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00707" y="629930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42A2B"/>
                </a:solidFill>
                <a:latin typeface="PingFang SC"/>
              </a:defRPr>
            </a:pPr>
            <a:r>
              <a:t>与页数和问题数相关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90295" y="6553503"/>
            <a:ext cx="4572000" cy="381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86D70"/>
                </a:solidFill>
                <a:latin typeface="PingFang SC"/>
              </a:defRPr>
            </a:pPr>
            <a:r>
              <a:t>先小样本评测，再扩展；复用 build meta 避免重复入库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096304" y="3149193"/>
            <a:ext cx="5333695" cy="2286000"/>
          </a:xfrm>
          <a:prstGeom prst="roundRect">
            <a:avLst/>
          </a:prstGeom>
          <a:solidFill>
            <a:srgbClr val="F4F8F6"/>
          </a:solidFill>
          <a:ln w="12700">
            <a:solidFill>
              <a:srgbClr val="D7E1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096304" y="3149193"/>
            <a:ext cx="56692" cy="2286000"/>
          </a:xfrm>
          <a:prstGeom prst="rect">
            <a:avLst/>
          </a:prstGeom>
          <a:solidFill>
            <a:srgbClr val="0E7D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24904" y="3429000"/>
            <a:ext cx="1828800" cy="2542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A5C50"/>
                </a:solidFill>
                <a:latin typeface="PingFang SC"/>
              </a:defRPr>
            </a:pPr>
            <a:r>
              <a:t>当前进度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24904" y="3759098"/>
            <a:ext cx="4876495" cy="1524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86D70"/>
                </a:solidFill>
                <a:latin typeface="PingFang SC"/>
              </a:defRPr>
            </a:pPr>
            <a:r>
              <a:t>• 工程骨架：已完成</a:t>
            </a:r>
            <a:br/>
            <a:r>
              <a:t>• 文档解析：已完成初版</a:t>
            </a:r>
            <a:br/>
            <a:r>
              <a:t>• 向量索引：已完成</a:t>
            </a:r>
            <a:br/>
            <a:r>
              <a:t>• 图谱构建：已完成初版</a:t>
            </a:r>
            <a:br/>
            <a:r>
              <a:t>• GraphRAG 问答：已完成初版</a:t>
            </a:r>
            <a:br/>
            <a:r>
              <a:t>• Web 演示：已完成初版</a:t>
            </a:r>
            <a:br/>
            <a:r>
              <a:t>• 评测脚本：已完成框架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096304" y="5689396"/>
            <a:ext cx="5333695" cy="2286000"/>
          </a:xfrm>
          <a:prstGeom prst="roundRect">
            <a:avLst/>
          </a:prstGeom>
          <a:solidFill>
            <a:srgbClr val="FFFEFC"/>
          </a:solidFill>
          <a:ln w="12700">
            <a:solidFill>
              <a:srgbClr val="D7E1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096304" y="5689396"/>
            <a:ext cx="56692" cy="2286000"/>
          </a:xfrm>
          <a:prstGeom prst="rect">
            <a:avLst/>
          </a:prstGeom>
          <a:solidFill>
            <a:srgbClr val="0E7D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24904" y="5969203"/>
            <a:ext cx="2286000" cy="2542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A5C50"/>
                </a:solidFill>
                <a:latin typeface="PingFang SC"/>
              </a:defRPr>
            </a:pPr>
            <a:r>
              <a:t>后续 4 周计划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24904" y="6299301"/>
            <a:ext cx="4876495" cy="1524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86D70"/>
                </a:solidFill>
                <a:latin typeface="PingFang SC"/>
              </a:defRPr>
            </a:pPr>
            <a:r>
              <a:t>• 第 1 周：清理图谱噪声、优化关键词和关系过滤</a:t>
            </a:r>
            <a:br/>
            <a:r>
              <a:t>• 第 2 周：构建自建长文档测试集，补充 DocVQA 小样本</a:t>
            </a:r>
            <a:br/>
            <a:r>
              <a:t>• 第 3 周：跑 Full/No-Graph/No-Image 消融实验</a:t>
            </a:r>
            <a:br/>
            <a:r>
              <a:t>• 第 4 周：完善前端演示、整理最终报告和答辩材料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38504"/>
          </a:xfrm>
          <a:prstGeom prst="rect">
            <a:avLst/>
          </a:prstGeom>
          <a:solidFill>
            <a:srgbClr val="ECE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334195" y="0"/>
            <a:ext cx="2857500" cy="838504"/>
          </a:xfrm>
          <a:prstGeom prst="rect">
            <a:avLst/>
          </a:prstGeom>
          <a:solidFill>
            <a:srgbClr val="E6F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5854903"/>
            <a:ext cx="2361895" cy="1003096"/>
          </a:xfrm>
          <a:prstGeom prst="rect">
            <a:avLst/>
          </a:prstGeom>
          <a:solidFill>
            <a:srgbClr val="EA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81304" y="381304"/>
            <a:ext cx="11430000" cy="6096304"/>
          </a:xfrm>
          <a:prstGeom prst="roundRect">
            <a:avLst/>
          </a:prstGeom>
          <a:solidFill>
            <a:srgbClr val="FFFEFC"/>
          </a:solidFill>
          <a:ln w="12700">
            <a:solidFill>
              <a:srgbClr val="D7E1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81304" y="381304"/>
            <a:ext cx="95097" cy="6096304"/>
          </a:xfrm>
          <a:prstGeom prst="rect">
            <a:avLst/>
          </a:prstGeom>
          <a:solidFill>
            <a:srgbClr val="F4F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42492" y="724204"/>
            <a:ext cx="38404" cy="228600"/>
          </a:xfrm>
          <a:prstGeom prst="rect">
            <a:avLst/>
          </a:prstGeom>
          <a:solidFill>
            <a:srgbClr val="0E7D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5995" y="6858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A5C50"/>
                </a:solidFill>
                <a:latin typeface="Aptos"/>
              </a:defRPr>
            </a:pPr>
            <a:r>
              <a:t>06 · 参考文献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705795" y="622706"/>
            <a:ext cx="952804" cy="431596"/>
          </a:xfrm>
          <a:prstGeom prst="roundRect">
            <a:avLst/>
          </a:prstGeom>
          <a:solidFill>
            <a:srgbClr val="F4F8F6"/>
          </a:solidFill>
          <a:ln w="12700">
            <a:solidFill>
              <a:srgbClr val="D7E1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858500" y="711403"/>
            <a:ext cx="685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A5C50"/>
                </a:solidFill>
                <a:latin typeface="Aptos"/>
              </a:defRPr>
            </a:pPr>
            <a:r>
              <a:t>07 / 08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42492" y="1194206"/>
            <a:ext cx="10763402" cy="19202"/>
          </a:xfrm>
          <a:prstGeom prst="rect">
            <a:avLst/>
          </a:prstGeom>
          <a:solidFill>
            <a:srgbClr val="D7E1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8504" y="1397203"/>
            <a:ext cx="9144000" cy="761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42A2B"/>
                </a:solidFill>
                <a:latin typeface="PingFang SC"/>
              </a:defRPr>
            </a:pPr>
            <a:r>
              <a:t>核心来源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4204" y="3149193"/>
            <a:ext cx="10668304" cy="4826203"/>
          </a:xfrm>
          <a:prstGeom prst="roundRect">
            <a:avLst/>
          </a:prstGeom>
          <a:solidFill>
            <a:srgbClr val="FFFEFC"/>
          </a:solidFill>
          <a:ln w="12700">
            <a:solidFill>
              <a:srgbClr val="D7E1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24204" y="3149193"/>
            <a:ext cx="56692" cy="4826203"/>
          </a:xfrm>
          <a:prstGeom prst="rect">
            <a:avLst/>
          </a:prstGeom>
          <a:solidFill>
            <a:srgbClr val="0E7D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90295" y="3429000"/>
            <a:ext cx="10058400" cy="44192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86D70"/>
                </a:solidFill>
                <a:latin typeface="PingFang SC"/>
              </a:defRPr>
            </a:pPr>
            <a:r>
              <a:t>[1] Lewis, P. et al. (2020). Retrieval-Augmented Generation for Knowledge-Intensive NLP Tasks. NeurIPS 2020.</a:t>
            </a:r>
            <a:br/>
            <a:br/>
            <a:r>
              <a:t>[2] Edge, D. et al. (2024). From Local to Global: A Graph RAG Approach to Query-Focused Summarization. arXiv:2404.16130.</a:t>
            </a:r>
            <a:br/>
            <a:br/>
            <a:r>
              <a:t>[3] Microsoft GraphRAG Documentation. Query Engine Overview and Indexing Overview.</a:t>
            </a:r>
            <a:br/>
            <a:br/>
            <a:r>
              <a:t>[4] Mathew, M. et al. (2021). DocVQA: A Dataset for VQA on Document Images. WACV 2021.</a:t>
            </a:r>
            <a:br/>
            <a:br/>
            <a:r>
              <a:t>[5] Masry, A. et al. (2022). ChartQA: A Benchmark for Question Answering about Charts. Findings of ACL 2022.</a:t>
            </a:r>
            <a:br/>
            <a:br/>
            <a:r>
              <a:t>[6] Faysse, M. et al. (2024). ColPali: Efficient Document Retrieval with Vision Language Models. arXiv:2407.01449.</a:t>
            </a:r>
            <a:br/>
            <a:br/>
            <a:r>
              <a:t>[7] Qwen Team. Qwen3-VL official repository and Qwen3-VL-8B-Instruct model card.</a:t>
            </a:r>
            <a:br/>
            <a:br/>
            <a:r>
              <a:t>[8] Dong, K. et al. (2025). Benchmarking Retrieval-Augmented Multimodal Generation for Document Question Answering. MMDocRAG.</a:t>
            </a:r>
            <a:br/>
            <a:br/>
            <a:r>
              <a:t>[9] Bu, C. et al. (2025). Query-Driven Multimodal GraphRAG: Dynamic Local Knowledge Graph Construction for Online Reasoning. Findings of ACL 2025.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38504"/>
          </a:xfrm>
          <a:prstGeom prst="rect">
            <a:avLst/>
          </a:prstGeom>
          <a:solidFill>
            <a:srgbClr val="ECE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334195" y="0"/>
            <a:ext cx="2857500" cy="838504"/>
          </a:xfrm>
          <a:prstGeom prst="rect">
            <a:avLst/>
          </a:prstGeom>
          <a:solidFill>
            <a:srgbClr val="E6F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5854903"/>
            <a:ext cx="2361895" cy="1003096"/>
          </a:xfrm>
          <a:prstGeom prst="rect">
            <a:avLst/>
          </a:prstGeom>
          <a:solidFill>
            <a:srgbClr val="EFE6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81304" y="381304"/>
            <a:ext cx="11430000" cy="6096304"/>
          </a:xfrm>
          <a:prstGeom prst="roundRect">
            <a:avLst/>
          </a:prstGeom>
          <a:solidFill>
            <a:srgbClr val="FFFEFC"/>
          </a:solidFill>
          <a:ln w="12700">
            <a:solidFill>
              <a:srgbClr val="D7E1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9497" y="1880006"/>
            <a:ext cx="4572000" cy="2542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7A8D90"/>
                </a:solidFill>
                <a:latin typeface="Aptos"/>
              </a:defRPr>
            </a:pPr>
            <a:r>
              <a:t>07 · 结束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2804" y="2387498"/>
            <a:ext cx="7315200" cy="761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600" b="1">
                <a:solidFill>
                  <a:srgbClr val="142A2B"/>
                </a:solidFill>
                <a:latin typeface="PingFang SC"/>
              </a:defRPr>
            </a:pPr>
            <a:r>
              <a:t>谢谢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9497" y="3301898"/>
            <a:ext cx="8229600" cy="5084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586D70"/>
                </a:solidFill>
                <a:latin typeface="PingFang SC"/>
              </a:defRPr>
            </a:pPr>
            <a:r>
              <a:t>多模态 GraphRAG · 可追溯文档问答 · qwen3-vl-8b-instruct + FAISS + networkx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90295" y="6096304"/>
            <a:ext cx="1170432" cy="355701"/>
          </a:xfrm>
          <a:prstGeom prst="roundRect">
            <a:avLst/>
          </a:prstGeom>
          <a:solidFill>
            <a:srgbClr val="FFFEFC"/>
          </a:solidFill>
          <a:ln>
            <a:solidFill>
              <a:srgbClr val="D7E1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66190" y="6146596"/>
            <a:ext cx="1017728" cy="2542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A5C50"/>
                </a:solidFill>
                <a:latin typeface="PingFang SC"/>
              </a:defRPr>
            </a:pPr>
            <a:r>
              <a:t>GraphRAG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294229" y="6096304"/>
            <a:ext cx="914400" cy="355701"/>
          </a:xfrm>
          <a:prstGeom prst="roundRect">
            <a:avLst/>
          </a:prstGeom>
          <a:solidFill>
            <a:srgbClr val="FFFEFC"/>
          </a:solidFill>
          <a:ln>
            <a:solidFill>
              <a:srgbClr val="D7E1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370124" y="6146596"/>
            <a:ext cx="761696" cy="2542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A5C50"/>
                </a:solidFill>
                <a:latin typeface="PingFang SC"/>
              </a:defRPr>
            </a:pPr>
            <a:r>
              <a:t>FAISS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342131" y="6096304"/>
            <a:ext cx="1170432" cy="355701"/>
          </a:xfrm>
          <a:prstGeom prst="roundRect">
            <a:avLst/>
          </a:prstGeom>
          <a:solidFill>
            <a:srgbClr val="FFFEFC"/>
          </a:solidFill>
          <a:ln>
            <a:solidFill>
              <a:srgbClr val="D7E1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418026" y="6146596"/>
            <a:ext cx="1017728" cy="2542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A5C50"/>
                </a:solidFill>
                <a:latin typeface="PingFang SC"/>
              </a:defRPr>
            </a:pPr>
            <a:r>
              <a:t>networkx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646065" y="6096304"/>
            <a:ext cx="2926080" cy="355701"/>
          </a:xfrm>
          <a:prstGeom prst="roundRect">
            <a:avLst/>
          </a:prstGeom>
          <a:solidFill>
            <a:srgbClr val="FFFEFC"/>
          </a:solidFill>
          <a:ln>
            <a:solidFill>
              <a:srgbClr val="D7E1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21960" y="6146596"/>
            <a:ext cx="2773376" cy="2542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A5C50"/>
                </a:solidFill>
                <a:latin typeface="PingFang SC"/>
              </a:defRPr>
            </a:pPr>
            <a:r>
              <a:t>qwen3-vl-8b-instruct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05647" y="6096304"/>
            <a:ext cx="1316736" cy="355701"/>
          </a:xfrm>
          <a:prstGeom prst="roundRect">
            <a:avLst/>
          </a:prstGeom>
          <a:solidFill>
            <a:srgbClr val="FFFEFC"/>
          </a:solidFill>
          <a:ln>
            <a:solidFill>
              <a:srgbClr val="D7E1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81542" y="6146596"/>
            <a:ext cx="1164032" cy="2542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A5C50"/>
                </a:solidFill>
                <a:latin typeface="PingFang SC"/>
              </a:defRPr>
            </a:pPr>
            <a:r>
              <a:t>DashScope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55885" y="6096304"/>
            <a:ext cx="1024128" cy="355701"/>
          </a:xfrm>
          <a:prstGeom prst="roundRect">
            <a:avLst/>
          </a:prstGeom>
          <a:solidFill>
            <a:srgbClr val="FFFEFC"/>
          </a:solidFill>
          <a:ln>
            <a:solidFill>
              <a:srgbClr val="D7E1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231780" y="6146596"/>
            <a:ext cx="871424" cy="2542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A5C50"/>
                </a:solidFill>
                <a:latin typeface="PingFang SC"/>
              </a:defRPr>
            </a:pPr>
            <a:r>
              <a:t>PyMuPDF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313515" y="6096304"/>
            <a:ext cx="914400" cy="355701"/>
          </a:xfrm>
          <a:prstGeom prst="roundRect">
            <a:avLst/>
          </a:prstGeom>
          <a:solidFill>
            <a:srgbClr val="FFFEFC"/>
          </a:solidFill>
          <a:ln>
            <a:solidFill>
              <a:srgbClr val="D7E1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389410" y="6146596"/>
            <a:ext cx="761696" cy="2542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A5C50"/>
                </a:solidFill>
                <a:latin typeface="PingFang SC"/>
              </a:defRPr>
            </a:pPr>
            <a:r>
              <a:t>Flask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2659</Words>
  <Application>WPS 演示</Application>
  <PresentationFormat>On-screen Show (4:3)</PresentationFormat>
  <Paragraphs>182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26" baseType="lpstr">
      <vt:lpstr>Arial</vt:lpstr>
      <vt:lpstr>宋体</vt:lpstr>
      <vt:lpstr>Wingdings</vt:lpstr>
      <vt:lpstr>Arial</vt:lpstr>
      <vt:lpstr>Aptos</vt:lpstr>
      <vt:lpstr>Helvetica Neue</vt:lpstr>
      <vt:lpstr>PingFang SC</vt:lpstr>
      <vt:lpstr>Calibri</vt:lpstr>
      <vt:lpstr>宋体</vt:lpstr>
      <vt:lpstr>汉仪书宋二KW</vt:lpstr>
      <vt:lpstr>Thonburi</vt:lpstr>
      <vt:lpstr>微软雅黑</vt:lpstr>
      <vt:lpstr>汉仪旗黑</vt:lpstr>
      <vt:lpstr>Arial Unicode MS</vt:lpstr>
      <vt:lpstr>Aptos</vt:lpstr>
      <vt:lpstr>PingFang SC</vt:lpstr>
      <vt:lpstr>苹方-简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梁力航</cp:lastModifiedBy>
  <cp:revision>2</cp:revision>
  <dcterms:created xsi:type="dcterms:W3CDTF">2026-05-06T10:10:18Z</dcterms:created>
  <dcterms:modified xsi:type="dcterms:W3CDTF">2026-05-06T10:10:18Z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D7352A30CFD2D8938A13FB69FB9953BA_42</vt:lpwstr>
  </property>
  <property fmtid="{D5CDD505-2E9C-101B-9397-08002B2CF9AE}" pid="3" name="KSOProductBuildVer">
    <vt:lpwstr>2052-12.1.25869.25869</vt:lpwstr>
  </property>
</Properties>
</file>