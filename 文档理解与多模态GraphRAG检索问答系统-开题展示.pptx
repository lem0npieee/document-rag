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封面说明当前原型状态，以及 qwen3-vl-8b-instruct、FAISS 与 networkx。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任务定义页将输入、处理和输出压缩成一张表，避免复述报告长段落。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背景问题页强调为什么多模态和图结构是必要组织形式。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相关工作页只保留答辩时必要的技术脉络，不堆参考文献全文。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总体架构页是 deck 的核心 proof object：两条链路共享 FAISS 与 networkx 图谱产物。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系统总览页使用用户提供图片，展示知识库构建、多模态证据空间、GraphRAG 在线问答和前端展示层。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 页使用用户提供截图，展示聊天、知识图谱、节点检查器和页面预览已经形成完整演示界面。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核心模块页把报告中的文件级实现压缩为可讲清的工程分层。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文档图设计页强调本项目不是只抽实体，而是把页面证据作为第一等节点。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检索生成页把 ask() 的核心步骤变成可讲的序列图。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技术选型页保持技术名准确，不使用泛泛的 AI layer 表述。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实验页明确同一系统内消融，避免把 GraphRAG 说成另一个产品版本。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进度与风险页把已完成原型、后续计划和风险应对放在同一页，便于答辩。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总结页收束到后续实验要证明的事情，不再展开新信息。</a:t>
            </a:r>
          </a:p>
          <a:p/>
          <a:p>
            <a:r>
              <a:t>[Sources]</a:t>
            </a:r>
          </a:p>
          <a:p>
            <a:r>
              <a:t>开题报告.md；项目现有 presentation 仅作视觉节奏参考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FE2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F5EF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01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00100" y="1181100"/>
            <a:ext cx="57150" cy="40005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028700" y="1143000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课程作业开题展示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28700" y="144780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7B8E90"/>
                </a:solidFill>
              </a:defRPr>
            </a:pPr>
            <a:r>
              <a:rPr sz="900" b="1">
                <a:solidFill>
                  <a:srgbClr val="7B8E90"/>
                </a:solidFill>
                <a:latin typeface="Aptos"/>
                <a:ea typeface="Aptos"/>
                <a:cs typeface="Aptos"/>
              </a:rPr>
              <a:t>多模态大模型原理与应用 · 题目 3</a:t>
            </a:r>
            <a:endParaRPr sz="900" b="1">
              <a:solidFill>
                <a:srgbClr val="7B8E9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90600" y="1809750"/>
            <a:ext cx="6572250" cy="1200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75" b="1">
                <a:solidFill>
                  <a:srgbClr val="142A2B"/>
                </a:solidFill>
              </a:defRPr>
            </a:pPr>
            <a:r>
              <a:rPr sz="33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多模态 GraphRAG 文档问答</a:t>
            </a:r>
            <a:endParaRPr sz="33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28700" y="3219450"/>
            <a:ext cx="61912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53696B"/>
                </a:solidFill>
              </a:defRPr>
            </a:pPr>
            <a:r>
              <a:rPr sz="15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一个已经跑通的文档问答原型：qwen3-vl-8b-instruct 解析页面，FAISS 检索，networkx 补图关系。</a:t>
            </a:r>
            <a:endParaRPr sz="15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1028700" y="4095750"/>
            <a:ext cx="2000250" cy="304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162050" y="4171950"/>
            <a:ext cx="17335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qwen3-vl-8b-instruct</a:t>
            </a:r>
            <a:endParaRPr sz="90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3143250" y="4095750"/>
            <a:ext cx="1123950" cy="304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3276600" y="4171950"/>
            <a:ext cx="8572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FAISS</a:t>
            </a:r>
            <a:endParaRPr sz="90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4381500" y="4095750"/>
            <a:ext cx="1143000" cy="304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514850" y="4171950"/>
            <a:ext cx="876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networkx</a:t>
            </a:r>
            <a:endParaRPr sz="90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5638800" y="4095750"/>
            <a:ext cx="1562100" cy="304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772150" y="4171950"/>
            <a:ext cx="12954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多模态 GraphRAG</a:t>
            </a:r>
            <a:endParaRPr sz="90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7810500" y="1352550"/>
            <a:ext cx="3276600" cy="2476500"/>
          </a:xfrm>
          <a:prstGeom prst="roundRect">
            <a:avLst>
              <a:gd name="adj" fmla="val 3077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810500" y="1352550"/>
            <a:ext cx="57150" cy="24765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8115300" y="1600200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A5C50"/>
                </a:solidFill>
              </a:defRPr>
            </a:pPr>
            <a:r>
              <a:rPr sz="97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当前状态</a:t>
            </a:r>
            <a:endParaRPr sz="97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115300" y="1924050"/>
            <a:ext cx="2476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142A2B"/>
                </a:solidFill>
              </a:defRPr>
            </a:pPr>
            <a:r>
              <a:rPr sz="202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GraphRAG 原型已跑通</a:t>
            </a:r>
            <a:endParaRPr sz="202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115300" y="2724150"/>
            <a:ext cx="25527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3696B"/>
                </a:solidFill>
              </a:defRPr>
            </a:pPr>
            <a:r>
              <a:rPr sz="12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图结构不是最后再加的展示项，而是已经进入入库、检索和回答流程。</a:t>
            </a:r>
            <a:endParaRPr sz="12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1028700" y="5010150"/>
            <a:ext cx="628650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028700" y="5010150"/>
            <a:ext cx="57150" cy="8191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295400" y="5257800"/>
            <a:ext cx="57531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42A2B"/>
                </a:solidFill>
              </a:defRPr>
            </a:pPr>
            <a:r>
              <a:rPr sz="135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上传文档后，系统会生成页面图、向量索引和文档图；提问时三者一起参与回答。</a:t>
            </a:r>
            <a:endParaRPr sz="135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667750" y="4705350"/>
            <a:ext cx="247650" cy="38100"/>
          </a:xfrm>
          <a:prstGeom prst="rect">
            <a:avLst/>
          </a:prstGeom>
          <a:solidFill>
            <a:srgbClr val="9BC7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等腰三角形 29"/>
          <p:cNvSpPr>
            <a:spLocks noGrp="1"/>
          </p:cNvSpPr>
          <p:nvPr/>
        </p:nvSpPr>
        <p:spPr>
          <a:xfrm>
            <a:off x="8820150" y="4438650"/>
            <a:ext cx="152400" cy="152400"/>
          </a:xfrm>
          <a:prstGeom prst="triangle">
            <a:avLst/>
          </a:prstGeom>
          <a:solidFill>
            <a:srgbClr val="9BC7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667750" y="4876800"/>
            <a:ext cx="247650" cy="38100"/>
          </a:xfrm>
          <a:prstGeom prst="rect">
            <a:avLst/>
          </a:prstGeom>
          <a:solidFill>
            <a:srgbClr val="9BC7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等腰三角形 31"/>
          <p:cNvSpPr>
            <a:spLocks noGrp="1"/>
          </p:cNvSpPr>
          <p:nvPr/>
        </p:nvSpPr>
        <p:spPr>
          <a:xfrm>
            <a:off x="8820150" y="5067300"/>
            <a:ext cx="152400" cy="152400"/>
          </a:xfrm>
          <a:prstGeom prst="triangle">
            <a:avLst/>
          </a:prstGeom>
          <a:solidFill>
            <a:srgbClr val="9BC7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772650" y="4495800"/>
            <a:ext cx="247650" cy="38100"/>
          </a:xfrm>
          <a:prstGeom prst="rect">
            <a:avLst/>
          </a:prstGeom>
          <a:solidFill>
            <a:srgbClr val="9BC7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等腰三角形 33"/>
          <p:cNvSpPr>
            <a:spLocks noGrp="1"/>
          </p:cNvSpPr>
          <p:nvPr/>
        </p:nvSpPr>
        <p:spPr>
          <a:xfrm>
            <a:off x="9925050" y="4648200"/>
            <a:ext cx="152400" cy="152400"/>
          </a:xfrm>
          <a:prstGeom prst="triangle">
            <a:avLst/>
          </a:prstGeom>
          <a:solidFill>
            <a:srgbClr val="9BC7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9772650" y="5124450"/>
            <a:ext cx="247650" cy="38100"/>
          </a:xfrm>
          <a:prstGeom prst="rect">
            <a:avLst/>
          </a:prstGeom>
          <a:solidFill>
            <a:srgbClr val="9BC7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等腰三角形 35"/>
          <p:cNvSpPr>
            <a:spLocks noGrp="1"/>
          </p:cNvSpPr>
          <p:nvPr/>
        </p:nvSpPr>
        <p:spPr>
          <a:xfrm>
            <a:off x="9925050" y="4819650"/>
            <a:ext cx="152400" cy="152400"/>
          </a:xfrm>
          <a:prstGeom prst="triangle">
            <a:avLst/>
          </a:prstGeom>
          <a:solidFill>
            <a:srgbClr val="9BC7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圆角矩形 36"/>
          <p:cNvSpPr>
            <a:spLocks noGrp="1"/>
          </p:cNvSpPr>
          <p:nvPr/>
        </p:nvSpPr>
        <p:spPr>
          <a:xfrm>
            <a:off x="7981950" y="4552950"/>
            <a:ext cx="6858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8058150" y="4705350"/>
            <a:ext cx="5334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PDF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8915400" y="4171950"/>
            <a:ext cx="8572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8991600" y="4324350"/>
            <a:ext cx="7048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FAISS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1" name="圆角矩形 40"/>
          <p:cNvSpPr>
            <a:spLocks noGrp="1"/>
          </p:cNvSpPr>
          <p:nvPr/>
        </p:nvSpPr>
        <p:spPr>
          <a:xfrm>
            <a:off x="8915400" y="4972050"/>
            <a:ext cx="8572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8991600" y="5124450"/>
            <a:ext cx="7048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Graph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10020300" y="4552950"/>
            <a:ext cx="685800" cy="476250"/>
          </a:xfrm>
          <a:prstGeom prst="roundRect">
            <a:avLst>
              <a:gd name="adj" fmla="val 16000"/>
            </a:avLst>
          </a:prstGeom>
          <a:solidFill>
            <a:srgbClr val="0E7D6A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10096500" y="4705350"/>
            <a:ext cx="5334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Answer</a:t>
            </a:r>
            <a:endParaRPr sz="105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AF3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EEF6F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02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01 · TASK DEFINITION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1028700"/>
            <a:ext cx="90487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上传后做五件事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04850" y="1962150"/>
            <a:ext cx="8191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3696B"/>
                </a:solidFill>
              </a:defRPr>
            </a:pPr>
            <a:r>
              <a:rPr sz="127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输入可以是 PDF、扫描件、论文页面或 PPT 截图。我们不只抽文字，还保留页面图像和跨页关系。</a:t>
            </a:r>
            <a:endParaRPr sz="127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742950" y="2609850"/>
            <a:ext cx="106870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4" name="圆角矩形 13"/>
          <p:cNvSpPr>
            <a:spLocks noGrp="1"/>
          </p:cNvSpPr>
          <p:nvPr/>
        </p:nvSpPr>
        <p:spPr>
          <a:xfrm>
            <a:off x="1066800" y="278130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200150" y="2857500"/>
            <a:ext cx="6096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输入</a:t>
            </a:r>
            <a:endParaRPr sz="9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266950" y="2800350"/>
            <a:ext cx="832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42A2B"/>
                </a:solidFill>
              </a:defRPr>
            </a:pPr>
            <a:r>
              <a:rPr sz="135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多页 PDF、单页图片、扫描件、文档截图</a:t>
            </a:r>
            <a:endParaRPr sz="135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28700" y="3257550"/>
            <a:ext cx="9944100" cy="9525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1066800" y="33718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200150" y="3448050"/>
            <a:ext cx="6096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解析</a:t>
            </a:r>
            <a:endParaRPr sz="90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266950" y="3390900"/>
            <a:ext cx="832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3696B"/>
                </a:solidFill>
              </a:defRPr>
            </a:pPr>
            <a:r>
              <a:rPr sz="13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PyMuPDF 渲染页面；qwen3-vl-8b-instruct 抽取文本、表格、图表、关键词和关系</a:t>
            </a:r>
            <a:endParaRPr sz="13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028700" y="3848100"/>
            <a:ext cx="9944100" cy="9525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圆角矩形 21"/>
          <p:cNvSpPr>
            <a:spLocks noGrp="1"/>
          </p:cNvSpPr>
          <p:nvPr/>
        </p:nvSpPr>
        <p:spPr>
          <a:xfrm>
            <a:off x="1066800" y="396240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200150" y="4038600"/>
            <a:ext cx="6096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索引</a:t>
            </a:r>
            <a:endParaRPr sz="90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266950" y="3981450"/>
            <a:ext cx="832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3696B"/>
                </a:solidFill>
              </a:defRPr>
            </a:pPr>
            <a:r>
              <a:rPr sz="13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LangChain Document + DashScope text-embedding-v3 + FAISS</a:t>
            </a:r>
            <a:endParaRPr sz="13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028700" y="4438650"/>
            <a:ext cx="9944100" cy="9525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圆角矩形 25"/>
          <p:cNvSpPr>
            <a:spLocks noGrp="1"/>
          </p:cNvSpPr>
          <p:nvPr/>
        </p:nvSpPr>
        <p:spPr>
          <a:xfrm>
            <a:off x="1066800" y="45529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200150" y="4629150"/>
            <a:ext cx="6096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建图</a:t>
            </a:r>
            <a:endParaRPr sz="90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2266950" y="4572000"/>
            <a:ext cx="832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3696B"/>
                </a:solidFill>
              </a:defRPr>
            </a:pPr>
            <a:r>
              <a:rPr sz="13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networkx 异构文档图：内容节点、关键词节点、同页边、跨页边、语义边</a:t>
            </a:r>
            <a:endParaRPr sz="13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28700" y="5029200"/>
            <a:ext cx="9944100" cy="9525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圆角矩形 29"/>
          <p:cNvSpPr>
            <a:spLocks noGrp="1"/>
          </p:cNvSpPr>
          <p:nvPr/>
        </p:nvSpPr>
        <p:spPr>
          <a:xfrm>
            <a:off x="1066800" y="514350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200150" y="5219700"/>
            <a:ext cx="6096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输出</a:t>
            </a:r>
            <a:endParaRPr sz="9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2266950" y="5162550"/>
            <a:ext cx="832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42A2B"/>
                </a:solidFill>
              </a:defRPr>
            </a:pPr>
            <a:r>
              <a:rPr sz="135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自然语言回答、页码、节点 ID、关系路径、图谱与页面局部预览</a:t>
            </a:r>
            <a:endParaRPr sz="135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FE2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F5EF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03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02 · WHY MULTIMODAL GRAPHRAG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1028700"/>
            <a:ext cx="90487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为什么纯文本 RAG 不够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23900" y="2400300"/>
            <a:ext cx="333375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23900" y="2400300"/>
            <a:ext cx="57150" cy="23431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71550" y="2647950"/>
            <a:ext cx="3048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315C8B"/>
                </a:solidFill>
              </a:defRPr>
            </a:pPr>
            <a:r>
              <a:rPr sz="165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A</a:t>
            </a:r>
            <a:endParaRPr sz="1650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971550" y="31051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42A2B"/>
                </a:solidFill>
              </a:defRPr>
            </a:pPr>
            <a:r>
              <a:rPr sz="18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视觉信息丢失</a:t>
            </a:r>
            <a:endParaRPr sz="18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71550" y="3638550"/>
            <a:ext cx="27432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3696B"/>
                </a:solidFill>
              </a:defRPr>
            </a:pPr>
            <a:r>
              <a:rPr sz="127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图表趋势、颜色标记、坐标轴、表格边界很难被纯文本稳定保留。</a:t>
            </a:r>
            <a:endParaRPr sz="127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4286250" y="2400300"/>
            <a:ext cx="333375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286250" y="2400300"/>
            <a:ext cx="57150" cy="23431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533900" y="2647950"/>
            <a:ext cx="3048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A5C50"/>
                </a:solidFill>
              </a:defRPr>
            </a:pPr>
            <a:r>
              <a:rPr sz="16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B</a:t>
            </a:r>
            <a:endParaRPr sz="16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4533900" y="31051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42A2B"/>
                </a:solidFill>
              </a:defRPr>
            </a:pPr>
            <a:r>
              <a:rPr sz="18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结构关系不足</a:t>
            </a:r>
            <a:endParaRPr sz="18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533900" y="3638550"/>
            <a:ext cx="27432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3696B"/>
                </a:solidFill>
              </a:defRPr>
            </a:pPr>
            <a:r>
              <a:rPr sz="127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图文对应、跨页段落、图号与结论之间的支撑关系无法只靠相似度表达。</a:t>
            </a:r>
            <a:endParaRPr sz="127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7848600" y="2400300"/>
            <a:ext cx="333375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848600" y="2400300"/>
            <a:ext cx="57150" cy="2343150"/>
          </a:xfrm>
          <a:prstGeom prst="rect">
            <a:avLst/>
          </a:prstGeom>
          <a:solidFill>
            <a:srgbClr val="B27B2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096250" y="2647950"/>
            <a:ext cx="3048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B27B26"/>
                </a:solidFill>
              </a:defRPr>
            </a:pPr>
            <a:r>
              <a:rPr sz="1650" b="1">
                <a:solidFill>
                  <a:srgbClr val="B27B26"/>
                </a:solidFill>
                <a:latin typeface="Aptos"/>
                <a:ea typeface="Aptos"/>
                <a:cs typeface="Aptos"/>
              </a:rPr>
              <a:t>C</a:t>
            </a:r>
            <a:endParaRPr sz="1650" b="1">
              <a:solidFill>
                <a:srgbClr val="B27B2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096250" y="310515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42A2B"/>
                </a:solidFill>
              </a:defRPr>
            </a:pPr>
            <a:r>
              <a:rPr sz="18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引用说不清</a:t>
            </a:r>
            <a:endParaRPr sz="18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096250" y="3638550"/>
            <a:ext cx="27432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3696B"/>
                </a:solidFill>
              </a:defRPr>
            </a:pPr>
            <a:r>
              <a:rPr sz="127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向量检索能找到相似片段，但很难说明这个结论到底对应哪张图、哪一页。</a:t>
            </a:r>
            <a:endParaRPr sz="127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723900" y="5143500"/>
            <a:ext cx="10706100" cy="819150"/>
          </a:xfrm>
          <a:prstGeom prst="roundRect">
            <a:avLst>
              <a:gd name="adj" fmla="val 9302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28700" y="5353050"/>
            <a:ext cx="9144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A5C50"/>
                </a:solidFill>
              </a:defRPr>
            </a:pPr>
            <a:r>
              <a:rPr sz="97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我们的处理</a:t>
            </a:r>
            <a:endParaRPr sz="97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2095500" y="5314950"/>
            <a:ext cx="819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所以这版系统保留页面图像，并把文本块、关键词和跨页关系放进同一张文档图。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E3EC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AF3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EEF6F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04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315C8B"/>
                </a:solidFill>
              </a:defRPr>
            </a:pPr>
            <a:r>
              <a:rPr sz="90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03 · RELATED WORK</a:t>
            </a:r>
            <a:endParaRPr sz="900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1028700"/>
            <a:ext cx="90487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相关工作的启发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42950" y="2419350"/>
            <a:ext cx="2457450" cy="241935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2950" y="2419350"/>
            <a:ext cx="2457450" cy="66675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椭圆 13"/>
          <p:cNvSpPr>
            <a:spLocks noGrp="1"/>
          </p:cNvSpPr>
          <p:nvPr/>
        </p:nvSpPr>
        <p:spPr>
          <a:xfrm>
            <a:off x="971550" y="2724150"/>
            <a:ext cx="419100" cy="419100"/>
          </a:xfrm>
          <a:prstGeom prst="ellipse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123950" y="2857500"/>
            <a:ext cx="114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E7D6A"/>
                </a:solidFill>
              </a:defRPr>
            </a:pPr>
            <a:r>
              <a:rPr sz="1050" b="1">
                <a:solidFill>
                  <a:srgbClr val="0E7D6A"/>
                </a:solidFill>
                <a:latin typeface="Aptos"/>
                <a:ea typeface="Aptos"/>
                <a:cs typeface="Aptos"/>
              </a:rPr>
              <a:t>1</a:t>
            </a:r>
            <a:endParaRPr sz="1050" b="1">
              <a:solidFill>
                <a:srgbClr val="0E7D6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71550" y="3333750"/>
            <a:ext cx="1809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42A2B"/>
                </a:solidFill>
              </a:defRPr>
            </a:pPr>
            <a:r>
              <a:rPr sz="15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RAG</a:t>
            </a:r>
            <a:endParaRPr sz="15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71550" y="40005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0E7D6A"/>
                </a:solidFill>
              </a:defRPr>
            </a:pPr>
            <a:r>
              <a:rPr sz="750" b="1">
                <a:solidFill>
                  <a:srgbClr val="0E7D6A"/>
                </a:solidFill>
                <a:latin typeface="Aptos"/>
                <a:ea typeface="Aptos"/>
                <a:cs typeface="Aptos"/>
              </a:rPr>
              <a:t>Lewis et al., 2020</a:t>
            </a:r>
            <a:endParaRPr sz="750" b="1">
              <a:solidFill>
                <a:srgbClr val="0E7D6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71550" y="4419600"/>
            <a:ext cx="1962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问答不能只靠模型记忆，外部检索能把答案拉回文档。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3409950" y="2419350"/>
            <a:ext cx="2457450" cy="241935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3409950" y="2419350"/>
            <a:ext cx="2457450" cy="66675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椭圆 20"/>
          <p:cNvSpPr>
            <a:spLocks noGrp="1"/>
          </p:cNvSpPr>
          <p:nvPr/>
        </p:nvSpPr>
        <p:spPr>
          <a:xfrm>
            <a:off x="3638550" y="2724150"/>
            <a:ext cx="419100" cy="419100"/>
          </a:xfrm>
          <a:prstGeom prst="ellipse">
            <a:avLst/>
          </a:prstGeom>
          <a:solidFill>
            <a:srgbClr val="E3EC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790950" y="2857500"/>
            <a:ext cx="114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315C8B"/>
                </a:solidFill>
              </a:defRPr>
            </a:pPr>
            <a:r>
              <a:rPr sz="105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2</a:t>
            </a:r>
            <a:endParaRPr sz="1050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638550" y="3333750"/>
            <a:ext cx="1809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42A2B"/>
                </a:solidFill>
              </a:defRPr>
            </a:pPr>
            <a:r>
              <a:rPr sz="15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GraphRAG</a:t>
            </a:r>
            <a:endParaRPr sz="15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3638550" y="40005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315C8B"/>
                </a:solidFill>
              </a:defRPr>
            </a:pPr>
            <a:r>
              <a:rPr sz="75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Edge et al., 2024；Microsoft GraphRAG</a:t>
            </a:r>
            <a:endParaRPr sz="750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638550" y="4419600"/>
            <a:ext cx="1962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图关系适合补充多跳问题里缺掉的上下文。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6076950" y="2419350"/>
            <a:ext cx="2457450" cy="241935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076950" y="2419350"/>
            <a:ext cx="2457450" cy="66675"/>
          </a:xfrm>
          <a:prstGeom prst="rect">
            <a:avLst/>
          </a:prstGeom>
          <a:solidFill>
            <a:srgbClr val="B27B2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椭圆 27"/>
          <p:cNvSpPr>
            <a:spLocks noGrp="1"/>
          </p:cNvSpPr>
          <p:nvPr/>
        </p:nvSpPr>
        <p:spPr>
          <a:xfrm>
            <a:off x="6305550" y="2724150"/>
            <a:ext cx="419100" cy="419100"/>
          </a:xfrm>
          <a:prstGeom prst="ellipse">
            <a:avLst/>
          </a:prstGeom>
          <a:solidFill>
            <a:srgbClr val="F4E9D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457950" y="2857500"/>
            <a:ext cx="114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B27B26"/>
                </a:solidFill>
              </a:defRPr>
            </a:pPr>
            <a:r>
              <a:rPr sz="1050" b="1">
                <a:solidFill>
                  <a:srgbClr val="B27B26"/>
                </a:solidFill>
                <a:latin typeface="Aptos"/>
                <a:ea typeface="Aptos"/>
                <a:cs typeface="Aptos"/>
              </a:rPr>
              <a:t>3</a:t>
            </a:r>
            <a:endParaRPr sz="1050" b="1">
              <a:solidFill>
                <a:srgbClr val="B27B2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305550" y="3333750"/>
            <a:ext cx="1809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42A2B"/>
                </a:solidFill>
              </a:defRPr>
            </a:pPr>
            <a:r>
              <a:rPr sz="15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DocVQA / ChartQA</a:t>
            </a:r>
            <a:endParaRPr sz="15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305550" y="40005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B27B26"/>
                </a:solidFill>
              </a:defRPr>
            </a:pPr>
            <a:r>
              <a:rPr sz="750" b="1">
                <a:solidFill>
                  <a:srgbClr val="B27B26"/>
                </a:solidFill>
                <a:latin typeface="Aptos"/>
                <a:ea typeface="Aptos"/>
                <a:cs typeface="Aptos"/>
              </a:rPr>
              <a:t>WACV 2021；ACL Findings 2022</a:t>
            </a:r>
            <a:endParaRPr sz="750" b="1">
              <a:solidFill>
                <a:srgbClr val="B27B2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305550" y="4419600"/>
            <a:ext cx="1962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文档和图表题不能只看 OCR 文本，还要看版面和图像。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8743950" y="2419350"/>
            <a:ext cx="2457450" cy="2419350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743950" y="2419350"/>
            <a:ext cx="2457450" cy="66675"/>
          </a:xfrm>
          <a:prstGeom prst="rect">
            <a:avLst/>
          </a:prstGeom>
          <a:solidFill>
            <a:srgbClr val="A455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椭圆 34"/>
          <p:cNvSpPr>
            <a:spLocks noGrp="1"/>
          </p:cNvSpPr>
          <p:nvPr/>
        </p:nvSpPr>
        <p:spPr>
          <a:xfrm>
            <a:off x="8972550" y="2724150"/>
            <a:ext cx="419100" cy="419100"/>
          </a:xfrm>
          <a:prstGeom prst="ellipse">
            <a:avLst/>
          </a:prstGeom>
          <a:solidFill>
            <a:srgbClr val="F1E2D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9124950" y="2857500"/>
            <a:ext cx="114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A45545"/>
                </a:solidFill>
              </a:defRPr>
            </a:pPr>
            <a:r>
              <a:rPr sz="1050" b="1">
                <a:solidFill>
                  <a:srgbClr val="A45545"/>
                </a:solidFill>
                <a:latin typeface="Aptos"/>
                <a:ea typeface="Aptos"/>
                <a:cs typeface="Aptos"/>
              </a:rPr>
              <a:t>4</a:t>
            </a:r>
            <a:endParaRPr sz="1050" b="1">
              <a:solidFill>
                <a:srgbClr val="A4554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972550" y="3333750"/>
            <a:ext cx="1809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42A2B"/>
                </a:solidFill>
              </a:defRPr>
            </a:pPr>
            <a:r>
              <a:rPr sz="15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ColPali / MMDocRAG</a:t>
            </a:r>
            <a:endParaRPr sz="15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8972550" y="40005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A45545"/>
                </a:solidFill>
              </a:defRPr>
            </a:pPr>
            <a:r>
              <a:rPr sz="750" b="1">
                <a:solidFill>
                  <a:srgbClr val="A45545"/>
                </a:solidFill>
                <a:latin typeface="Aptos"/>
                <a:ea typeface="Aptos"/>
                <a:cs typeface="Aptos"/>
              </a:rPr>
              <a:t>2024-2025</a:t>
            </a:r>
            <a:endParaRPr sz="750" b="1">
              <a:solidFill>
                <a:srgbClr val="A4554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8972550" y="4419600"/>
            <a:ext cx="1962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长文档里，页面图像本身就是重要输入。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742950" y="5219700"/>
            <a:ext cx="10687050" cy="666750"/>
          </a:xfrm>
          <a:prstGeom prst="roundRect">
            <a:avLst>
              <a:gd name="adj" fmla="val 11429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742950" y="5219700"/>
            <a:ext cx="57150" cy="6667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1047750" y="5429250"/>
            <a:ext cx="958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42A2B"/>
                </a:solidFill>
              </a:defRPr>
            </a:pPr>
            <a:r>
              <a:rPr sz="12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所以我们没有照搬微软 GraphRAG，而是做一个适合课程规模的轻量文档图。</a:t>
            </a:r>
            <a:endParaRPr sz="12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AF3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EEF6F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05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04 · SYSTEM ARCHITECTURE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1028700"/>
            <a:ext cx="90487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入库一次，同时查向量和图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23950" y="232410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入库链路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123950" y="4114800"/>
            <a:ext cx="133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315C8B"/>
                </a:solidFill>
              </a:defRPr>
            </a:pPr>
            <a:r>
              <a:rPr sz="105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在线问答链路</a:t>
            </a:r>
            <a:endParaRPr sz="1050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1123950" y="2647950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276350" y="2838450"/>
            <a:ext cx="12573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42A2B"/>
                </a:solidFill>
              </a:defRPr>
            </a:pPr>
            <a:r>
              <a:rPr sz="12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上传 PDF / 图片</a:t>
            </a:r>
            <a:endParaRPr sz="12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686050" y="2971800"/>
            <a:ext cx="323850" cy="381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等腰三角形 16"/>
          <p:cNvSpPr>
            <a:spLocks noGrp="1"/>
          </p:cNvSpPr>
          <p:nvPr/>
        </p:nvSpPr>
        <p:spPr>
          <a:xfrm>
            <a:off x="2914650" y="2914650"/>
            <a:ext cx="152400" cy="152400"/>
          </a:xfrm>
          <a:prstGeom prst="triangle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3028950" y="2647950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3181350" y="2838450"/>
            <a:ext cx="12573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42A2B"/>
                </a:solidFill>
              </a:defRPr>
            </a:pPr>
            <a:r>
              <a:rPr sz="12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PyMuPDF 页面渲染</a:t>
            </a:r>
            <a:endParaRPr sz="12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4591050" y="2971800"/>
            <a:ext cx="323850" cy="381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等腰三角形 20"/>
          <p:cNvSpPr>
            <a:spLocks noGrp="1"/>
          </p:cNvSpPr>
          <p:nvPr/>
        </p:nvSpPr>
        <p:spPr>
          <a:xfrm>
            <a:off x="4819650" y="2914650"/>
            <a:ext cx="152400" cy="152400"/>
          </a:xfrm>
          <a:prstGeom prst="triangle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圆角矩形 21"/>
          <p:cNvSpPr>
            <a:spLocks noGrp="1"/>
          </p:cNvSpPr>
          <p:nvPr/>
        </p:nvSpPr>
        <p:spPr>
          <a:xfrm>
            <a:off x="4933950" y="2647950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086350" y="2838450"/>
            <a:ext cx="12573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42A2B"/>
                </a:solidFill>
              </a:defRPr>
            </a:pPr>
            <a:r>
              <a:rPr sz="12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qwen3-vl 结构化抽取</a:t>
            </a:r>
            <a:endParaRPr sz="12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496050" y="2971800"/>
            <a:ext cx="323850" cy="381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等腰三角形 24"/>
          <p:cNvSpPr>
            <a:spLocks noGrp="1"/>
          </p:cNvSpPr>
          <p:nvPr/>
        </p:nvSpPr>
        <p:spPr>
          <a:xfrm>
            <a:off x="6724650" y="2914650"/>
            <a:ext cx="152400" cy="152400"/>
          </a:xfrm>
          <a:prstGeom prst="triangle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圆角矩形 25"/>
          <p:cNvSpPr>
            <a:spLocks noGrp="1"/>
          </p:cNvSpPr>
          <p:nvPr/>
        </p:nvSpPr>
        <p:spPr>
          <a:xfrm>
            <a:off x="6838950" y="2647950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0E7D6A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991350" y="2838450"/>
            <a:ext cx="12573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FAISS 索引 + graph.pkl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1123950" y="4438650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315C8B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1276350" y="4629150"/>
            <a:ext cx="12573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42A2B"/>
                </a:solidFill>
              </a:defRPr>
            </a:pPr>
            <a:r>
              <a:rPr sz="12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用户提问</a:t>
            </a:r>
            <a:endParaRPr sz="12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2686050" y="4762500"/>
            <a:ext cx="323850" cy="3810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等腰三角形 30"/>
          <p:cNvSpPr>
            <a:spLocks noGrp="1"/>
          </p:cNvSpPr>
          <p:nvPr/>
        </p:nvSpPr>
        <p:spPr>
          <a:xfrm>
            <a:off x="2914650" y="4705350"/>
            <a:ext cx="152400" cy="152400"/>
          </a:xfrm>
          <a:prstGeom prst="triangle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圆角矩形 31"/>
          <p:cNvSpPr>
            <a:spLocks noGrp="1"/>
          </p:cNvSpPr>
          <p:nvPr/>
        </p:nvSpPr>
        <p:spPr>
          <a:xfrm>
            <a:off x="3028950" y="4438650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315C8B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3181350" y="4629150"/>
            <a:ext cx="12573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42A2B"/>
                </a:solidFill>
              </a:defRPr>
            </a:pPr>
            <a:r>
              <a:rPr sz="12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FAISS top-k 种子召回</a:t>
            </a:r>
            <a:endParaRPr sz="12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591050" y="4762500"/>
            <a:ext cx="323850" cy="3810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等腰三角形 34"/>
          <p:cNvSpPr>
            <a:spLocks noGrp="1"/>
          </p:cNvSpPr>
          <p:nvPr/>
        </p:nvSpPr>
        <p:spPr>
          <a:xfrm>
            <a:off x="4819650" y="4705350"/>
            <a:ext cx="152400" cy="152400"/>
          </a:xfrm>
          <a:prstGeom prst="triangle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圆角矩形 35"/>
          <p:cNvSpPr>
            <a:spLocks noGrp="1"/>
          </p:cNvSpPr>
          <p:nvPr/>
        </p:nvSpPr>
        <p:spPr>
          <a:xfrm>
            <a:off x="4933950" y="4438650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315C8B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5086350" y="4629150"/>
            <a:ext cx="12573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42A2B"/>
                </a:solidFill>
              </a:defRPr>
            </a:pPr>
            <a:r>
              <a:rPr sz="12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networkx 图邻域 + 社区补充</a:t>
            </a:r>
            <a:endParaRPr sz="12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496050" y="4762500"/>
            <a:ext cx="323850" cy="3810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等腰三角形 38"/>
          <p:cNvSpPr>
            <a:spLocks noGrp="1"/>
          </p:cNvSpPr>
          <p:nvPr/>
        </p:nvSpPr>
        <p:spPr>
          <a:xfrm>
            <a:off x="6724650" y="4705350"/>
            <a:ext cx="152400" cy="152400"/>
          </a:xfrm>
          <a:prstGeom prst="triangle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圆角矩形 39"/>
          <p:cNvSpPr>
            <a:spLocks noGrp="1"/>
          </p:cNvSpPr>
          <p:nvPr/>
        </p:nvSpPr>
        <p:spPr>
          <a:xfrm>
            <a:off x="6838950" y="4438650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315C8B"/>
          </a:solidFill>
          <a:ln w="11430">
            <a:solidFill>
              <a:srgbClr val="315C8B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6991350" y="4629150"/>
            <a:ext cx="12573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qwen3-vl 图文融合回答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2" name="圆角矩形 41"/>
          <p:cNvSpPr>
            <a:spLocks noGrp="1"/>
          </p:cNvSpPr>
          <p:nvPr/>
        </p:nvSpPr>
        <p:spPr>
          <a:xfrm>
            <a:off x="8763000" y="2628900"/>
            <a:ext cx="2152650" cy="2343150"/>
          </a:xfrm>
          <a:prstGeom prst="roundRect">
            <a:avLst>
              <a:gd name="adj" fmla="val 3540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8763000" y="2628900"/>
            <a:ext cx="57150" cy="23431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9048750" y="2895600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统一输出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9048750" y="3352800"/>
            <a:ext cx="142875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42A2B"/>
                </a:solidFill>
              </a:defRPr>
            </a:pPr>
            <a:r>
              <a:rPr sz="1350" b="0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• 页码</a:t>
            </a:r>
            <a:endParaRPr sz="1350" b="0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350" b="0">
                <a:solidFill>
                  <a:srgbClr val="142A2B"/>
                </a:solidFill>
              </a:defRPr>
            </a:pPr>
            <a:r>
              <a:rPr sz="1350" b="0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• 节点 ID</a:t>
            </a:r>
            <a:endParaRPr sz="1350" b="0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350" b="0">
                <a:solidFill>
                  <a:srgbClr val="142A2B"/>
                </a:solidFill>
              </a:defRPr>
            </a:pPr>
            <a:r>
              <a:rPr sz="1350" b="0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• 关系路径</a:t>
            </a:r>
            <a:endParaRPr sz="1350" b="0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350" b="0">
                <a:solidFill>
                  <a:srgbClr val="142A2B"/>
                </a:solidFill>
              </a:defRPr>
            </a:pPr>
            <a:r>
              <a:rPr sz="1350" b="0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• 页面 / bbox 预览</a:t>
            </a:r>
            <a:endParaRPr sz="1350" b="0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8343900" y="3486150"/>
            <a:ext cx="323850" cy="38100"/>
          </a:xfrm>
          <a:prstGeom prst="rect">
            <a:avLst/>
          </a:prstGeom>
          <a:solidFill>
            <a:srgbClr val="B7D9D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等腰三角形 46"/>
          <p:cNvSpPr>
            <a:spLocks noGrp="1"/>
          </p:cNvSpPr>
          <p:nvPr/>
        </p:nvSpPr>
        <p:spPr>
          <a:xfrm>
            <a:off x="8629650" y="3429000"/>
            <a:ext cx="152400" cy="152400"/>
          </a:xfrm>
          <a:prstGeom prst="triangle">
            <a:avLst/>
          </a:prstGeom>
          <a:solidFill>
            <a:srgbClr val="B7D9D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8343900" y="4724400"/>
            <a:ext cx="323850" cy="38100"/>
          </a:xfrm>
          <a:prstGeom prst="rect">
            <a:avLst/>
          </a:prstGeom>
          <a:solidFill>
            <a:srgbClr val="B7D9D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等腰三角形 48"/>
          <p:cNvSpPr>
            <a:spLocks noGrp="1"/>
          </p:cNvSpPr>
          <p:nvPr/>
        </p:nvSpPr>
        <p:spPr>
          <a:xfrm>
            <a:off x="8629650" y="4667250"/>
            <a:ext cx="152400" cy="152400"/>
          </a:xfrm>
          <a:prstGeom prst="triangle">
            <a:avLst/>
          </a:prstGeom>
          <a:solidFill>
            <a:srgbClr val="B7D9D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E3EC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AF3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EEF6F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06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315C8B"/>
                </a:solidFill>
              </a:defRPr>
            </a:pPr>
            <a:r>
              <a:rPr sz="90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05 · SYSTEM OVERVIEW</a:t>
            </a:r>
            <a:endParaRPr sz="900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9906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42A2B"/>
                </a:solidFill>
              </a:defRPr>
            </a:pPr>
            <a:r>
              <a:rPr sz="24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系统总览</a:t>
            </a:r>
            <a:endParaRPr sz="24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81050" y="1428750"/>
            <a:ext cx="10629900" cy="489585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885" y="819150"/>
            <a:ext cx="9047480" cy="60318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FE2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F5EF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07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06 · DEMO SNAPSHOT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990600"/>
            <a:ext cx="100965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当前 Demo 界面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04850" y="1464945"/>
            <a:ext cx="8191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3696B"/>
                </a:solidFill>
              </a:defRPr>
            </a:pPr>
            <a:r>
              <a:rPr sz="127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左边是问答记录，中间是 505 nodes / 579 edges 的知识图谱，右边能定位到 SparseMM.pdf 第 8 页。</a:t>
            </a:r>
            <a:endParaRPr sz="127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704850" y="2476500"/>
            <a:ext cx="7715250" cy="3257550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240" y="1790700"/>
            <a:ext cx="8406130" cy="5067300"/>
          </a:xfrm>
          <a:prstGeom prst="rect">
            <a:avLst/>
          </a:prstGeom>
        </p:spPr>
      </p:pic>
      <p:sp>
        <p:nvSpPr>
          <p:cNvPr id="15" name="圆角矩形 14"/>
          <p:cNvSpPr>
            <a:spLocks noGrp="1"/>
          </p:cNvSpPr>
          <p:nvPr/>
        </p:nvSpPr>
        <p:spPr>
          <a:xfrm>
            <a:off x="8705850" y="2476500"/>
            <a:ext cx="2495550" cy="3257550"/>
          </a:xfrm>
          <a:prstGeom prst="roundRect">
            <a:avLst>
              <a:gd name="adj" fmla="val 3053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705850" y="2476500"/>
            <a:ext cx="57150" cy="32575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991600" y="2743200"/>
            <a:ext cx="11239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界面组成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9029700" y="3200400"/>
            <a:ext cx="285750" cy="2857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E7D6A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124950" y="3286125"/>
            <a:ext cx="95250" cy="95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0A5C50"/>
                </a:solidFill>
              </a:defRPr>
            </a:pPr>
            <a:r>
              <a:rPr sz="75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1</a:t>
            </a:r>
            <a:endParaRPr sz="75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467850" y="3257550"/>
            <a:ext cx="1333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42A2B"/>
                </a:solidFill>
              </a:defRPr>
            </a:pPr>
            <a:r>
              <a:rPr sz="1125" b="1">
                <a:solidFill>
                  <a:srgbClr val="142A2B"/>
                </a:solidFill>
                <a:latin typeface="Aptos"/>
                <a:ea typeface="Aptos"/>
                <a:cs typeface="Aptos"/>
              </a:rPr>
              <a:t>左侧对话</a:t>
            </a:r>
            <a:endParaRPr sz="1125" b="1">
              <a:solidFill>
                <a:srgbClr val="142A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9029700" y="3714750"/>
            <a:ext cx="285750" cy="285750"/>
          </a:xfrm>
          <a:prstGeom prst="ellipse">
            <a:avLst/>
          </a:prstGeom>
          <a:solidFill>
            <a:srgbClr val="0E7D6A"/>
          </a:solidFill>
          <a:ln w="9525">
            <a:solidFill>
              <a:srgbClr val="0E7D6A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124950" y="3800475"/>
            <a:ext cx="95250" cy="95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  <a:endParaRPr sz="75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467850" y="3771900"/>
            <a:ext cx="1333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42A2B"/>
                </a:solidFill>
              </a:defRPr>
            </a:pPr>
            <a:r>
              <a:rPr sz="1125" b="1">
                <a:solidFill>
                  <a:srgbClr val="142A2B"/>
                </a:solidFill>
                <a:latin typeface="Aptos"/>
                <a:ea typeface="Aptos"/>
                <a:cs typeface="Aptos"/>
              </a:rPr>
              <a:t>中间图谱</a:t>
            </a:r>
            <a:endParaRPr sz="1125" b="1">
              <a:solidFill>
                <a:srgbClr val="142A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4" name="椭圆 23"/>
          <p:cNvSpPr>
            <a:spLocks noGrp="1"/>
          </p:cNvSpPr>
          <p:nvPr/>
        </p:nvSpPr>
        <p:spPr>
          <a:xfrm>
            <a:off x="9029700" y="4229100"/>
            <a:ext cx="285750" cy="2857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E7D6A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124950" y="4314825"/>
            <a:ext cx="95250" cy="95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0A5C50"/>
                </a:solidFill>
              </a:defRPr>
            </a:pPr>
            <a:r>
              <a:rPr sz="75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3</a:t>
            </a:r>
            <a:endParaRPr sz="75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467850" y="4286250"/>
            <a:ext cx="1333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42A2B"/>
                </a:solidFill>
              </a:defRPr>
            </a:pPr>
            <a:r>
              <a:rPr sz="1125" b="1">
                <a:solidFill>
                  <a:srgbClr val="142A2B"/>
                </a:solidFill>
                <a:latin typeface="Aptos"/>
                <a:ea typeface="Aptos"/>
                <a:cs typeface="Aptos"/>
              </a:rPr>
              <a:t>右侧节点</a:t>
            </a:r>
            <a:endParaRPr sz="1125" b="1">
              <a:solidFill>
                <a:srgbClr val="142A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椭圆 26"/>
          <p:cNvSpPr>
            <a:spLocks noGrp="1"/>
          </p:cNvSpPr>
          <p:nvPr/>
        </p:nvSpPr>
        <p:spPr>
          <a:xfrm>
            <a:off x="9029700" y="4743450"/>
            <a:ext cx="285750" cy="2857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E7D6A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124950" y="4829175"/>
            <a:ext cx="95250" cy="95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0A5C50"/>
                </a:solidFill>
              </a:defRPr>
            </a:pPr>
            <a:r>
              <a:rPr sz="750" b="1">
                <a:solidFill>
                  <a:srgbClr val="0A5C50"/>
                </a:solidFill>
                <a:latin typeface="PingFang SC"/>
                <a:ea typeface="PingFang SC"/>
                <a:cs typeface="PingFang SC"/>
              </a:rPr>
              <a:t>4</a:t>
            </a:r>
            <a:endParaRPr sz="750" b="1">
              <a:solidFill>
                <a:srgbClr val="0A5C5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467850" y="4800600"/>
            <a:ext cx="1333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42A2B"/>
                </a:solidFill>
              </a:defRPr>
            </a:pPr>
            <a:r>
              <a:rPr sz="1125" b="1">
                <a:solidFill>
                  <a:srgbClr val="142A2B"/>
                </a:solidFill>
                <a:latin typeface="Aptos"/>
                <a:ea typeface="Aptos"/>
                <a:cs typeface="Aptos"/>
              </a:rPr>
              <a:t>页面预览</a:t>
            </a:r>
            <a:endParaRPr sz="1125" b="1">
              <a:solidFill>
                <a:srgbClr val="142A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991600" y="5257800"/>
            <a:ext cx="1866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3696B"/>
                </a:solidFill>
              </a:defRPr>
            </a:pPr>
            <a:r>
              <a:rPr sz="97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同一界面包含上传、问答、图谱和页面预览。</a:t>
            </a:r>
            <a:endParaRPr sz="97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FE2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F5EF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08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07 · CORE MODULES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1028700"/>
            <a:ext cx="90487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代码分块，逐段调试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42950" y="2343150"/>
            <a:ext cx="25527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33450" y="2514600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42A2B"/>
                </a:solidFill>
              </a:defRPr>
            </a:pPr>
            <a:r>
              <a:rPr sz="12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配置管理</a:t>
            </a:r>
            <a:endParaRPr sz="12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33450" y="2781300"/>
            <a:ext cx="2019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A5C50"/>
                </a:solidFill>
              </a:defRPr>
            </a:pPr>
            <a:r>
              <a:rPr sz="82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src/config.py</a:t>
            </a:r>
            <a:endParaRPr sz="82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933450" y="304800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模型、API、文档目录和输出目录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3409950" y="2343150"/>
            <a:ext cx="25527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3600450" y="2514600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42A2B"/>
                </a:solidFill>
              </a:defRPr>
            </a:pPr>
            <a:r>
              <a:rPr sz="12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VLM 调用</a:t>
            </a:r>
            <a:endParaRPr sz="12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600450" y="2781300"/>
            <a:ext cx="2019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A5C50"/>
                </a:solidFill>
              </a:defRPr>
            </a:pPr>
            <a:r>
              <a:rPr sz="82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src/vl_client.py</a:t>
            </a:r>
            <a:endParaRPr sz="82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600450" y="304800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页面图片转 data URI，DashScope 多模态调用与重试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6076950" y="2343150"/>
            <a:ext cx="25527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267450" y="2514600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42A2B"/>
                </a:solidFill>
              </a:defRPr>
            </a:pPr>
            <a:r>
              <a:rPr sz="12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文档解析</a:t>
            </a:r>
            <a:endParaRPr sz="12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267450" y="2781300"/>
            <a:ext cx="2019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A5C50"/>
                </a:solidFill>
              </a:defRPr>
            </a:pPr>
            <a:r>
              <a:rPr sz="82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src/parsing/pipeline.py</a:t>
            </a:r>
            <a:endParaRPr sz="82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267450" y="304800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页面抽取、稀疏结果修复、bbox 归一化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8743950" y="2343150"/>
            <a:ext cx="25527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8934450" y="2514600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42A2B"/>
                </a:solidFill>
              </a:defRPr>
            </a:pPr>
            <a:r>
              <a:rPr sz="12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向量入库</a:t>
            </a:r>
            <a:endParaRPr sz="12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934450" y="2781300"/>
            <a:ext cx="2019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A5C50"/>
                </a:solidFill>
              </a:defRPr>
            </a:pPr>
            <a:r>
              <a:rPr sz="82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src/indexing/faiss_store.py</a:t>
            </a:r>
            <a:endParaRPr sz="82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934450" y="304800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DashScope embeddings 分批构建 FAISS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742950" y="3810000"/>
            <a:ext cx="2552700" cy="1200150"/>
          </a:xfrm>
          <a:prstGeom prst="roundRect">
            <a:avLst>
              <a:gd name="adj" fmla="val 6349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933450" y="3981450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42A2B"/>
                </a:solidFill>
              </a:defRPr>
            </a:pPr>
            <a:r>
              <a:rPr sz="12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图谱构建</a:t>
            </a:r>
            <a:endParaRPr sz="12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33450" y="4248150"/>
            <a:ext cx="2019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A5C50"/>
                </a:solidFill>
              </a:defRPr>
            </a:pPr>
            <a:r>
              <a:rPr sz="82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src/graph/builder.py</a:t>
            </a:r>
            <a:endParaRPr sz="82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933450" y="45148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内容节点、关键词节点、跨页边和语义边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3409950" y="3810000"/>
            <a:ext cx="2552700" cy="1200150"/>
          </a:xfrm>
          <a:prstGeom prst="roundRect">
            <a:avLst>
              <a:gd name="adj" fmla="val 6349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3600450" y="3981450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42A2B"/>
                </a:solidFill>
              </a:defRPr>
            </a:pPr>
            <a:r>
              <a:rPr sz="12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GraphRAG 问答</a:t>
            </a:r>
            <a:endParaRPr sz="12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3600450" y="4248150"/>
            <a:ext cx="2019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A5C50"/>
                </a:solidFill>
              </a:defRPr>
            </a:pPr>
            <a:r>
              <a:rPr sz="82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src/rag/...</a:t>
            </a:r>
            <a:endParaRPr sz="82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3600450" y="45148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向量召回、图扩展、社区 profile、页面图像参与回答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6076950" y="3810000"/>
            <a:ext cx="2552700" cy="1200150"/>
          </a:xfrm>
          <a:prstGeom prst="roundRect">
            <a:avLst>
              <a:gd name="adj" fmla="val 6349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6267450" y="3981450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42A2B"/>
                </a:solidFill>
              </a:defRPr>
            </a:pPr>
            <a:r>
              <a:rPr sz="12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后端服务</a:t>
            </a:r>
            <a:endParaRPr sz="12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267450" y="4248150"/>
            <a:ext cx="2019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A5C50"/>
                </a:solidFill>
              </a:defRPr>
            </a:pPr>
            <a:r>
              <a:rPr sz="82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src/server.py</a:t>
            </a:r>
            <a:endParaRPr sz="82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267450" y="45148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/ingest、/chat、/graph 与静态前端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8743950" y="3810000"/>
            <a:ext cx="2552700" cy="1200150"/>
          </a:xfrm>
          <a:prstGeom prst="roundRect">
            <a:avLst>
              <a:gd name="adj" fmla="val 6349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8934450" y="3981450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42A2B"/>
                </a:solidFill>
              </a:defRPr>
            </a:pPr>
            <a:r>
              <a:rPr sz="12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评测脚本</a:t>
            </a:r>
            <a:endParaRPr sz="12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8934450" y="4248150"/>
            <a:ext cx="2019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A5C50"/>
                </a:solidFill>
              </a:defRPr>
            </a:pPr>
            <a:r>
              <a:rPr sz="825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eval/code/*.py</a:t>
            </a:r>
            <a:endParaRPr sz="825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8934450" y="45148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DocVQA 数据加载、ANLS/EM、错误样例保存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AF3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EEF6F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09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08 · DOCUMENT GRAPH DESIGN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990600"/>
            <a:ext cx="93345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能回到页面的文档图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81050" y="2362200"/>
            <a:ext cx="4476750" cy="3200400"/>
          </a:xfrm>
          <a:prstGeom prst="roundRect">
            <a:avLst>
              <a:gd name="adj" fmla="val 2381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81050" y="2362200"/>
            <a:ext cx="57150" cy="32004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085850" y="2628900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节点类型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椭圆 14"/>
          <p:cNvSpPr>
            <a:spLocks noGrp="1"/>
          </p:cNvSpPr>
          <p:nvPr/>
        </p:nvSpPr>
        <p:spPr>
          <a:xfrm>
            <a:off x="2362200" y="3067050"/>
            <a:ext cx="800100" cy="51435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2438400" y="3238500"/>
            <a:ext cx="6477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text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椭圆 16"/>
          <p:cNvSpPr>
            <a:spLocks noGrp="1"/>
          </p:cNvSpPr>
          <p:nvPr/>
        </p:nvSpPr>
        <p:spPr>
          <a:xfrm>
            <a:off x="1485900" y="3848100"/>
            <a:ext cx="800100" cy="51435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562100" y="4019550"/>
            <a:ext cx="6477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table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3219450" y="3848100"/>
            <a:ext cx="800100" cy="51435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3295650" y="4019550"/>
            <a:ext cx="6477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figure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1962150" y="4686300"/>
            <a:ext cx="800100" cy="51435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2038350" y="4857750"/>
            <a:ext cx="6477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conclusion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3733800" y="4819650"/>
            <a:ext cx="800100" cy="51435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810000" y="4991100"/>
            <a:ext cx="6477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cross_page_text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1104900" y="5010150"/>
            <a:ext cx="800100" cy="514350"/>
          </a:xfrm>
          <a:prstGeom prst="ellipse">
            <a:avLst/>
          </a:prstGeom>
          <a:solidFill>
            <a:srgbClr val="0E7D6A"/>
          </a:solidFill>
          <a:ln w="11430">
            <a:solidFill>
              <a:srgbClr val="0E7D6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181100" y="5181600"/>
            <a:ext cx="6477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keyword</a:t>
            </a:r>
            <a:endParaRPr sz="90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2743200" y="3581400"/>
            <a:ext cx="38100" cy="304800"/>
          </a:xfrm>
          <a:prstGeom prst="rect">
            <a:avLst/>
          </a:prstGeom>
          <a:solidFill>
            <a:srgbClr val="B7D9D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885950" y="4095750"/>
            <a:ext cx="1333500" cy="38100"/>
          </a:xfrm>
          <a:prstGeom prst="rect">
            <a:avLst/>
          </a:prstGeom>
          <a:solidFill>
            <a:srgbClr val="B7D9D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2381250" y="4381500"/>
            <a:ext cx="38100" cy="323850"/>
          </a:xfrm>
          <a:prstGeom prst="rect">
            <a:avLst/>
          </a:prstGeom>
          <a:solidFill>
            <a:srgbClr val="B7D9D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3619500" y="4362450"/>
            <a:ext cx="38100" cy="438150"/>
          </a:xfrm>
          <a:prstGeom prst="rect">
            <a:avLst/>
          </a:prstGeom>
          <a:solidFill>
            <a:srgbClr val="B7D9D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圆角矩形 30"/>
          <p:cNvSpPr>
            <a:spLocks noGrp="1"/>
          </p:cNvSpPr>
          <p:nvPr/>
        </p:nvSpPr>
        <p:spPr>
          <a:xfrm>
            <a:off x="5715000" y="2362200"/>
            <a:ext cx="5467350" cy="320040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019800" y="2628900"/>
            <a:ext cx="133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边类型与作用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6019800" y="3048000"/>
            <a:ext cx="14478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315C8B"/>
                </a:solidFill>
              </a:defRPr>
            </a:pPr>
            <a:r>
              <a:rPr sz="975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same_page</a:t>
            </a:r>
            <a:endParaRPr sz="975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734300" y="3028950"/>
            <a:ext cx="2705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3696B"/>
                </a:solidFill>
              </a:defRPr>
            </a:pPr>
            <a:r>
              <a:rPr sz="112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同页内容的局部上下文</a:t>
            </a:r>
            <a:endParaRPr sz="112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019800" y="3448050"/>
            <a:ext cx="14478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315C8B"/>
                </a:solidFill>
              </a:defRPr>
            </a:pPr>
            <a:r>
              <a:rPr sz="975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keyword_hit</a:t>
            </a:r>
            <a:endParaRPr sz="975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734300" y="3429000"/>
            <a:ext cx="2705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3696B"/>
                </a:solidFill>
              </a:defRPr>
            </a:pPr>
            <a:r>
              <a:rPr sz="112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关键词与内容锚点的双向连接</a:t>
            </a:r>
            <a:endParaRPr sz="112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019800" y="3848100"/>
            <a:ext cx="14478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315C8B"/>
                </a:solidFill>
              </a:defRPr>
            </a:pPr>
            <a:r>
              <a:rPr sz="975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cooccurrence</a:t>
            </a:r>
            <a:endParaRPr sz="975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7734300" y="3829050"/>
            <a:ext cx="2705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3696B"/>
                </a:solidFill>
              </a:defRPr>
            </a:pPr>
            <a:r>
              <a:rPr sz="112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同页关键词共现</a:t>
            </a:r>
            <a:endParaRPr sz="112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019800" y="4248150"/>
            <a:ext cx="14478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315C8B"/>
                </a:solidFill>
              </a:defRPr>
            </a:pPr>
            <a:r>
              <a:rPr sz="975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continuation</a:t>
            </a:r>
            <a:endParaRPr sz="975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734300" y="4229100"/>
            <a:ext cx="2705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3696B"/>
                </a:solidFill>
              </a:defRPr>
            </a:pPr>
            <a:r>
              <a:rPr sz="112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相邻页面文本延续</a:t>
            </a:r>
            <a:endParaRPr sz="112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019800" y="4648200"/>
            <a:ext cx="14478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315C8B"/>
                </a:solidFill>
              </a:defRPr>
            </a:pPr>
            <a:r>
              <a:rPr sz="975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cross_page_merge</a:t>
            </a:r>
            <a:endParaRPr sz="975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734300" y="4629150"/>
            <a:ext cx="2705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3696B"/>
                </a:solidFill>
              </a:defRPr>
            </a:pPr>
            <a:r>
              <a:rPr sz="112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跨页合并片段与原始节点</a:t>
            </a:r>
            <a:endParaRPr sz="112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6019800" y="5048250"/>
            <a:ext cx="14478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315C8B"/>
                </a:solidFill>
              </a:defRPr>
            </a:pPr>
            <a:r>
              <a:rPr sz="975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semantic_relation</a:t>
            </a:r>
            <a:endParaRPr sz="975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7734300" y="5029200"/>
            <a:ext cx="2705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3696B"/>
                </a:solidFill>
              </a:defRPr>
            </a:pPr>
            <a:r>
              <a:rPr sz="112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VLM 抽取的方法、指标、图表描述关系</a:t>
            </a:r>
            <a:endParaRPr sz="112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E3EC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AF3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EEF6F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10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315C8B"/>
                </a:solidFill>
              </a:defRPr>
            </a:pPr>
            <a:r>
              <a:rPr sz="90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09 · RETRIEVAL + GENERATION</a:t>
            </a:r>
            <a:endParaRPr sz="900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990600"/>
            <a:ext cx="990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先检索，再补图，再看图回答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" y="3295650"/>
            <a:ext cx="9429750" cy="57150"/>
          </a:xfrm>
          <a:prstGeom prst="rect">
            <a:avLst/>
          </a:prstGeom>
          <a:solidFill>
            <a:srgbClr val="C8DCD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椭圆 12"/>
          <p:cNvSpPr>
            <a:spLocks noGrp="1"/>
          </p:cNvSpPr>
          <p:nvPr/>
        </p:nvSpPr>
        <p:spPr>
          <a:xfrm>
            <a:off x="1371600" y="2971800"/>
            <a:ext cx="685800" cy="685800"/>
          </a:xfrm>
          <a:prstGeom prst="ellipse">
            <a:avLst/>
          </a:prstGeom>
          <a:solidFill>
            <a:srgbClr val="FFFFFF"/>
          </a:solidFill>
          <a:ln w="13335">
            <a:solidFill>
              <a:srgbClr val="0E7D6A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638300" y="3219450"/>
            <a:ext cx="1524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0A5C50"/>
                </a:solidFill>
              </a:defRPr>
            </a:pPr>
            <a:r>
              <a:rPr sz="13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</a:t>
            </a:r>
            <a:endParaRPr sz="13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009650" y="39624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FAISS 召回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95350" y="4343400"/>
            <a:ext cx="16764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用问题找到 top-k 语义相关 node_id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椭圆 16"/>
          <p:cNvSpPr>
            <a:spLocks noGrp="1"/>
          </p:cNvSpPr>
          <p:nvPr/>
        </p:nvSpPr>
        <p:spPr>
          <a:xfrm>
            <a:off x="3581400" y="2971800"/>
            <a:ext cx="685800" cy="685800"/>
          </a:xfrm>
          <a:prstGeom prst="ellipse">
            <a:avLst/>
          </a:prstGeom>
          <a:solidFill>
            <a:srgbClr val="FFFFFF"/>
          </a:solidFill>
          <a:ln w="13335">
            <a:solidFill>
              <a:srgbClr val="0E7D6A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3848100" y="3219450"/>
            <a:ext cx="1524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0A5C50"/>
                </a:solidFill>
              </a:defRPr>
            </a:pPr>
            <a:r>
              <a:rPr sz="13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2</a:t>
            </a:r>
            <a:endParaRPr sz="13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219450" y="39624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图邻域扩展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105150" y="4343400"/>
            <a:ext cx="16764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以种子节点做一跳扩展，并通过关键词 hub 补上下文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5791200" y="2971800"/>
            <a:ext cx="685800" cy="685800"/>
          </a:xfrm>
          <a:prstGeom prst="ellipse">
            <a:avLst/>
          </a:prstGeom>
          <a:solidFill>
            <a:srgbClr val="FFFFFF"/>
          </a:solidFill>
          <a:ln w="13335">
            <a:solidFill>
              <a:srgbClr val="0E7D6A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057900" y="3219450"/>
            <a:ext cx="1524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0A5C50"/>
                </a:solidFill>
              </a:defRPr>
            </a:pPr>
            <a:r>
              <a:rPr sz="13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3</a:t>
            </a:r>
            <a:endParaRPr sz="13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429250" y="39624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社区补充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314950" y="4343400"/>
            <a:ext cx="16764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greedy modularity 生成 profile，选择全局上下文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8001000" y="2971800"/>
            <a:ext cx="685800" cy="685800"/>
          </a:xfrm>
          <a:prstGeom prst="ellipse">
            <a:avLst/>
          </a:prstGeom>
          <a:solidFill>
            <a:srgbClr val="FFFFFF"/>
          </a:solidFill>
          <a:ln w="13335">
            <a:solidFill>
              <a:srgbClr val="0E7D6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8267700" y="3219450"/>
            <a:ext cx="1524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0A5C50"/>
                </a:solidFill>
              </a:defRPr>
            </a:pPr>
            <a:r>
              <a:rPr sz="13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4</a:t>
            </a:r>
            <a:endParaRPr sz="13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639050" y="39624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打包上下文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524750" y="4343400"/>
            <a:ext cx="16764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收集节点内容、关系路径、页码与页面图片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椭圆 28"/>
          <p:cNvSpPr>
            <a:spLocks noGrp="1"/>
          </p:cNvSpPr>
          <p:nvPr/>
        </p:nvSpPr>
        <p:spPr>
          <a:xfrm>
            <a:off x="10210800" y="2971800"/>
            <a:ext cx="685800" cy="685800"/>
          </a:xfrm>
          <a:prstGeom prst="ellipse">
            <a:avLst/>
          </a:prstGeom>
          <a:solidFill>
            <a:srgbClr val="0E7D6A"/>
          </a:solidFill>
          <a:ln w="13335">
            <a:solidFill>
              <a:srgbClr val="0E7D6A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0477500" y="3219450"/>
            <a:ext cx="1524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  <a:endParaRPr sz="135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9848850" y="39624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VLM 回答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9734550" y="4343400"/>
            <a:ext cx="16764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qwen3-vl-8b-instruct 结合文本和页面图回答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1143000" y="5448300"/>
            <a:ext cx="9906000" cy="495300"/>
          </a:xfrm>
          <a:prstGeom prst="roundRect">
            <a:avLst>
              <a:gd name="adj" fmla="val 15385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600200" y="5600700"/>
            <a:ext cx="8039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42A2B"/>
                </a:solidFill>
              </a:defRPr>
            </a:pPr>
            <a:r>
              <a:rPr sz="135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最后给 qwen3-vl 的内容包括：关系路径、相关文本、页面原图。</a:t>
            </a:r>
            <a:endParaRPr sz="135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AF3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EEF6F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11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10 · MODEL &amp; TECHNOLOGY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1028700"/>
            <a:ext cx="90487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低成本跑通原型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71550" y="236220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7B8E90"/>
                </a:solidFill>
              </a:defRPr>
            </a:pPr>
            <a:r>
              <a:rPr sz="1125" b="1">
                <a:solidFill>
                  <a:srgbClr val="7B8E90"/>
                </a:solidFill>
                <a:latin typeface="PingFang SC"/>
                <a:ea typeface="PingFang SC"/>
                <a:cs typeface="PingFang SC"/>
              </a:rPr>
              <a:t>文档解析与回答</a:t>
            </a:r>
            <a:endParaRPr sz="1125" b="1">
              <a:solidFill>
                <a:srgbClr val="7B8E9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724150" y="2343150"/>
            <a:ext cx="2571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A2B"/>
                </a:solidFill>
              </a:defRPr>
            </a:pPr>
            <a:r>
              <a:rPr sz="1425" b="1">
                <a:solidFill>
                  <a:srgbClr val="142A2B"/>
                </a:solidFill>
                <a:latin typeface="Aptos"/>
                <a:ea typeface="Aptos"/>
                <a:cs typeface="Aptos"/>
              </a:rPr>
              <a:t>qwen3-vl-8b-instruct</a:t>
            </a:r>
            <a:endParaRPr sz="1425" b="1">
              <a:solidFill>
                <a:srgbClr val="142A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810250" y="2362200"/>
            <a:ext cx="4343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3696B"/>
                </a:solidFill>
              </a:defRPr>
            </a:pPr>
            <a:r>
              <a:rPr sz="12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负责读页面、抽结构、看图回答</a:t>
            </a:r>
            <a:endParaRPr sz="12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933450" y="2800350"/>
            <a:ext cx="10306050" cy="9525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71550" y="291465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7B8E90"/>
                </a:solidFill>
              </a:defRPr>
            </a:pPr>
            <a:r>
              <a:rPr sz="1125" b="1">
                <a:solidFill>
                  <a:srgbClr val="7B8E90"/>
                </a:solidFill>
                <a:latin typeface="PingFang SC"/>
                <a:ea typeface="PingFang SC"/>
                <a:cs typeface="PingFang SC"/>
              </a:rPr>
              <a:t>多模态 API</a:t>
            </a:r>
            <a:endParaRPr sz="1125" b="1">
              <a:solidFill>
                <a:srgbClr val="7B8E9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724150" y="2895600"/>
            <a:ext cx="2571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A2B"/>
                </a:solidFill>
              </a:defRPr>
            </a:pPr>
            <a:r>
              <a:rPr sz="142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DashScope MultiModalConversation</a:t>
            </a:r>
            <a:endParaRPr sz="142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810250" y="2914650"/>
            <a:ext cx="4343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3696B"/>
                </a:solidFill>
              </a:defRPr>
            </a:pPr>
            <a:r>
              <a:rPr sz="12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与 Qwen 系列适配，便于快速联调</a:t>
            </a:r>
            <a:endParaRPr sz="12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33450" y="3352800"/>
            <a:ext cx="10306050" cy="9525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971550" y="346710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7B8E90"/>
                </a:solidFill>
              </a:defRPr>
            </a:pPr>
            <a:r>
              <a:rPr sz="1125" b="1">
                <a:solidFill>
                  <a:srgbClr val="7B8E90"/>
                </a:solidFill>
                <a:latin typeface="PingFang SC"/>
                <a:ea typeface="PingFang SC"/>
                <a:cs typeface="PingFang SC"/>
              </a:rPr>
              <a:t>文本嵌入</a:t>
            </a:r>
            <a:endParaRPr sz="1125" b="1">
              <a:solidFill>
                <a:srgbClr val="7B8E9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724150" y="3448050"/>
            <a:ext cx="2571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A2B"/>
                </a:solidFill>
              </a:defRPr>
            </a:pPr>
            <a:r>
              <a:rPr sz="142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DashScope text-embedding-v3</a:t>
            </a:r>
            <a:endParaRPr sz="142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810250" y="3467100"/>
            <a:ext cx="4343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3696B"/>
                </a:solidFill>
              </a:defRPr>
            </a:pPr>
            <a:r>
              <a:rPr sz="12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支持中英文文档，适合 FAISS 本地索引</a:t>
            </a:r>
            <a:endParaRPr sz="12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33450" y="3905250"/>
            <a:ext cx="10306050" cy="9525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971550" y="401955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7B8E90"/>
                </a:solidFill>
              </a:defRPr>
            </a:pPr>
            <a:r>
              <a:rPr sz="1125" b="1">
                <a:solidFill>
                  <a:srgbClr val="7B8E90"/>
                </a:solidFill>
                <a:latin typeface="PingFang SC"/>
                <a:ea typeface="PingFang SC"/>
                <a:cs typeface="PingFang SC"/>
              </a:rPr>
              <a:t>向量数据库</a:t>
            </a:r>
            <a:endParaRPr sz="1125" b="1">
              <a:solidFill>
                <a:srgbClr val="7B8E9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724150" y="4000500"/>
            <a:ext cx="2571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A2B"/>
                </a:solidFill>
              </a:defRPr>
            </a:pPr>
            <a:r>
              <a:rPr sz="142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FAISS</a:t>
            </a:r>
            <a:endParaRPr sz="142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810250" y="4019550"/>
            <a:ext cx="4343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3696B"/>
                </a:solidFill>
              </a:defRPr>
            </a:pPr>
            <a:r>
              <a:rPr sz="12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轻量、本地、无需额外服务</a:t>
            </a:r>
            <a:endParaRPr sz="12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33450" y="4457700"/>
            <a:ext cx="10306050" cy="9525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1550" y="457200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7B8E90"/>
                </a:solidFill>
              </a:defRPr>
            </a:pPr>
            <a:r>
              <a:rPr sz="1125" b="1">
                <a:solidFill>
                  <a:srgbClr val="7B8E90"/>
                </a:solidFill>
                <a:latin typeface="PingFang SC"/>
                <a:ea typeface="PingFang SC"/>
                <a:cs typeface="PingFang SC"/>
              </a:rPr>
              <a:t>图谱库</a:t>
            </a:r>
            <a:endParaRPr sz="1125" b="1">
              <a:solidFill>
                <a:srgbClr val="7B8E9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2724150" y="4552950"/>
            <a:ext cx="2571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A2B"/>
                </a:solidFill>
              </a:defRPr>
            </a:pPr>
            <a:r>
              <a:rPr sz="142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networkx</a:t>
            </a:r>
            <a:endParaRPr sz="142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810250" y="4572000"/>
            <a:ext cx="4343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3696B"/>
                </a:solidFill>
              </a:defRPr>
            </a:pPr>
            <a:r>
              <a:rPr sz="12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便于构建图、邻域扩展和社区发现</a:t>
            </a:r>
            <a:endParaRPr sz="12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933450" y="5010150"/>
            <a:ext cx="10306050" cy="9525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971550" y="512445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7B8E90"/>
                </a:solidFill>
              </a:defRPr>
            </a:pPr>
            <a:r>
              <a:rPr sz="1125" b="1">
                <a:solidFill>
                  <a:srgbClr val="7B8E90"/>
                </a:solidFill>
                <a:latin typeface="PingFang SC"/>
                <a:ea typeface="PingFang SC"/>
                <a:cs typeface="PingFang SC"/>
              </a:rPr>
              <a:t>文档渲染与服务</a:t>
            </a:r>
            <a:endParaRPr sz="1125" b="1">
              <a:solidFill>
                <a:srgbClr val="7B8E9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2724150" y="5105400"/>
            <a:ext cx="2571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A2B"/>
                </a:solidFill>
              </a:defRPr>
            </a:pPr>
            <a:r>
              <a:rPr sz="142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PyMuPDF + Flask</a:t>
            </a:r>
            <a:endParaRPr sz="142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810250" y="5124450"/>
            <a:ext cx="4343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3696B"/>
                </a:solidFill>
              </a:defRPr>
            </a:pPr>
            <a:r>
              <a:rPr sz="12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CPU 环境可运行，接口简单稳定</a:t>
            </a:r>
            <a:endParaRPr sz="12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FE2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F5EF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12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11 · DATASETS &amp; EXPERIMENTS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990600"/>
            <a:ext cx="990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图有没有用，图像有没有用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42950" y="2324100"/>
            <a:ext cx="333375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71550" y="25717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自建长文档测试集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71550" y="2933700"/>
            <a:ext cx="2724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3-5 篇含图表、表格、跨页段落和结论引用的论文或技术文档。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4305300" y="2324100"/>
            <a:ext cx="333375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533900" y="25717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DocVQA 子集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533900" y="2933700"/>
            <a:ext cx="2724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验证单页文档问答抽取效果，指标使用 ANLS 与 Exact Match。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7867650" y="2324100"/>
            <a:ext cx="333375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096250" y="25717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ChartQA 子集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096250" y="2933700"/>
            <a:ext cx="2724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观察页面原图和图表描述在视觉 / 逻辑问题中的作用。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742950" y="3905250"/>
            <a:ext cx="10687050" cy="1809750"/>
          </a:xfrm>
          <a:prstGeom prst="roundRect">
            <a:avLst>
              <a:gd name="adj" fmla="val 4211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42950" y="3905250"/>
            <a:ext cx="57150" cy="18097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047750" y="4152900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消融矩阵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1200150" y="4552950"/>
            <a:ext cx="2000250" cy="704850"/>
          </a:xfrm>
          <a:prstGeom prst="roundRect">
            <a:avLst>
              <a:gd name="adj" fmla="val 10811"/>
            </a:avLst>
          </a:prstGeom>
          <a:solidFill>
            <a:srgbClr val="0E7D6A"/>
          </a:solidFill>
          <a:ln w="9525">
            <a:solidFill>
              <a:srgbClr val="0E7D6A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1371600" y="4686300"/>
            <a:ext cx="1657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Full</a:t>
            </a:r>
            <a:endParaRPr sz="120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352550" y="4953000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向量 + 图扩展 + 社区 profile + 页面图像</a:t>
            </a:r>
            <a:endParaRPr sz="825" b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3562350" y="4552950"/>
            <a:ext cx="20002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3733800" y="4686300"/>
            <a:ext cx="1657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0A5C50"/>
                </a:solidFill>
              </a:defRPr>
            </a:pPr>
            <a:r>
              <a:rPr sz="12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No-Graph</a:t>
            </a:r>
            <a:endParaRPr sz="12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3714750" y="4953000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3696B"/>
                </a:solidFill>
              </a:defRPr>
            </a:pPr>
            <a:r>
              <a:rPr sz="82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关闭图谱扩展，只保留向量召回和页面图像</a:t>
            </a:r>
            <a:endParaRPr sz="82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5924550" y="4552950"/>
            <a:ext cx="20002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096000" y="4686300"/>
            <a:ext cx="1657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0A5C50"/>
                </a:solidFill>
              </a:defRPr>
            </a:pPr>
            <a:r>
              <a:rPr sz="12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No-Image</a:t>
            </a:r>
            <a:endParaRPr sz="12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076950" y="4953000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3696B"/>
                </a:solidFill>
              </a:defRPr>
            </a:pPr>
            <a:r>
              <a:rPr sz="82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关闭页面原图，只使用文本和图谱内容</a:t>
            </a:r>
            <a:endParaRPr sz="82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8286750" y="4552950"/>
            <a:ext cx="20002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458200" y="4686300"/>
            <a:ext cx="1657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0A5C50"/>
                </a:solidFill>
              </a:defRPr>
            </a:pPr>
            <a:r>
              <a:rPr sz="12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Short-Answer Eval</a:t>
            </a:r>
            <a:endParaRPr sz="12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8439150" y="4953000"/>
            <a:ext cx="1695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3696B"/>
                </a:solidFill>
              </a:defRPr>
            </a:pPr>
            <a:r>
              <a:rPr sz="825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约束短答案输出，计算 ANLS / EM</a:t>
            </a:r>
            <a:endParaRPr sz="825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AF3F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EEF6F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13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12 · PROGRESS &amp; RISK CONTROL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1028700"/>
            <a:ext cx="90487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能演示，补评测，降噪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42950" y="2343150"/>
            <a:ext cx="4495800" cy="154305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2950" y="2343150"/>
            <a:ext cx="57150" cy="15430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047750" y="2590800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A5C50"/>
                </a:solidFill>
              </a:defRPr>
            </a:pPr>
            <a:r>
              <a:rPr sz="105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当前进度</a:t>
            </a:r>
            <a:endParaRPr sz="105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047750" y="2777490"/>
            <a:ext cx="36576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• 工程骨架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• 文档解析初版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• FAISS 索引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• networkx 文档图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• GraphRAG 问答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• Web 演示初版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• DocVQA 评测框架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5562600" y="2343150"/>
            <a:ext cx="5638800" cy="1543050"/>
          </a:xfrm>
          <a:prstGeom prst="roundRect">
            <a:avLst>
              <a:gd name="adj" fmla="val 4938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562600" y="2343150"/>
            <a:ext cx="57150" cy="15430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867400" y="2590800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315C8B"/>
                </a:solidFill>
              </a:defRPr>
            </a:pPr>
            <a:r>
              <a:rPr sz="105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后续四周</a:t>
            </a:r>
            <a:endParaRPr sz="1050" b="1">
              <a:solidFill>
                <a:srgbClr val="315C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5867400" y="3028950"/>
            <a:ext cx="419100" cy="419100"/>
          </a:xfrm>
          <a:prstGeom prst="ellipse">
            <a:avLst/>
          </a:prstGeom>
          <a:solidFill>
            <a:srgbClr val="315C8B"/>
          </a:solidFill>
          <a:ln w="9525">
            <a:solidFill>
              <a:srgbClr val="315C8B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019800" y="3171825"/>
            <a:ext cx="1143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  <a:endParaRPr sz="105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753100" y="3581400"/>
            <a:ext cx="666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315C8B"/>
                </a:solidFill>
              </a:defRPr>
            </a:pPr>
            <a:r>
              <a:rPr sz="900" b="1">
                <a:solidFill>
                  <a:srgbClr val="315C8B"/>
                </a:solidFill>
                <a:latin typeface="PingFang SC"/>
                <a:ea typeface="PingFang SC"/>
                <a:cs typeface="PingFang SC"/>
              </a:rPr>
              <a:t>第 1 周</a:t>
            </a:r>
            <a:endParaRPr sz="900" b="1">
              <a:solidFill>
                <a:srgbClr val="315C8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457950" y="2971800"/>
            <a:ext cx="838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3696B"/>
                </a:solidFill>
              </a:defRPr>
            </a:pPr>
            <a:r>
              <a:rPr sz="9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清理图谱噪声，优化关键词和关系过滤</a:t>
            </a:r>
            <a:endParaRPr sz="9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7162800" y="3028950"/>
            <a:ext cx="419100" cy="419100"/>
          </a:xfrm>
          <a:prstGeom prst="ellipse">
            <a:avLst/>
          </a:prstGeom>
          <a:solidFill>
            <a:srgbClr val="315C8B"/>
          </a:solidFill>
          <a:ln w="9525">
            <a:solidFill>
              <a:srgbClr val="315C8B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315200" y="3171825"/>
            <a:ext cx="1143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  <a:endParaRPr sz="105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048500" y="3581400"/>
            <a:ext cx="666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315C8B"/>
                </a:solidFill>
              </a:defRPr>
            </a:pPr>
            <a:r>
              <a:rPr sz="900" b="1">
                <a:solidFill>
                  <a:srgbClr val="315C8B"/>
                </a:solidFill>
                <a:latin typeface="PingFang SC"/>
                <a:ea typeface="PingFang SC"/>
                <a:cs typeface="PingFang SC"/>
              </a:rPr>
              <a:t>第 2 周</a:t>
            </a:r>
            <a:endParaRPr sz="900" b="1">
              <a:solidFill>
                <a:srgbClr val="315C8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651115" y="2971800"/>
            <a:ext cx="838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3696B"/>
                </a:solidFill>
              </a:defRPr>
            </a:pPr>
            <a:r>
              <a:rPr sz="9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构建自建长文档测试集，补充 DocVQA 小样本</a:t>
            </a:r>
            <a:endParaRPr sz="9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椭圆 26"/>
          <p:cNvSpPr>
            <a:spLocks noGrp="1"/>
          </p:cNvSpPr>
          <p:nvPr/>
        </p:nvSpPr>
        <p:spPr>
          <a:xfrm>
            <a:off x="8458200" y="3028950"/>
            <a:ext cx="419100" cy="4191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15C8B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610600" y="3171825"/>
            <a:ext cx="1143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315C8B"/>
                </a:solidFill>
              </a:defRPr>
            </a:pPr>
            <a:r>
              <a:rPr sz="1050" b="1">
                <a:solidFill>
                  <a:srgbClr val="315C8B"/>
                </a:solidFill>
                <a:latin typeface="PingFang SC"/>
                <a:ea typeface="PingFang SC"/>
                <a:cs typeface="PingFang SC"/>
              </a:rPr>
              <a:t>3</a:t>
            </a:r>
            <a:endParaRPr sz="1050" b="1">
              <a:solidFill>
                <a:srgbClr val="315C8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43900" y="3581400"/>
            <a:ext cx="666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315C8B"/>
                </a:solidFill>
              </a:defRPr>
            </a:pPr>
            <a:r>
              <a:rPr sz="900" b="1">
                <a:solidFill>
                  <a:srgbClr val="315C8B"/>
                </a:solidFill>
                <a:latin typeface="PingFang SC"/>
                <a:ea typeface="PingFang SC"/>
                <a:cs typeface="PingFang SC"/>
              </a:rPr>
              <a:t>第 3 周</a:t>
            </a:r>
            <a:endParaRPr sz="900" b="1">
              <a:solidFill>
                <a:srgbClr val="315C8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946515" y="2971800"/>
            <a:ext cx="838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3696B"/>
                </a:solidFill>
              </a:defRPr>
            </a:pPr>
            <a:r>
              <a:rPr sz="9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跑 Full / No-Graph / No-Image 消融实验</a:t>
            </a:r>
            <a:endParaRPr sz="9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椭圆 30"/>
          <p:cNvSpPr>
            <a:spLocks noGrp="1"/>
          </p:cNvSpPr>
          <p:nvPr/>
        </p:nvSpPr>
        <p:spPr>
          <a:xfrm>
            <a:off x="9753600" y="3028950"/>
            <a:ext cx="419100" cy="4191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15C8B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9906000" y="3171825"/>
            <a:ext cx="1143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315C8B"/>
                </a:solidFill>
              </a:defRPr>
            </a:pPr>
            <a:r>
              <a:rPr sz="1050" b="1">
                <a:solidFill>
                  <a:srgbClr val="315C8B"/>
                </a:solidFill>
                <a:latin typeface="PingFang SC"/>
                <a:ea typeface="PingFang SC"/>
                <a:cs typeface="PingFang SC"/>
              </a:rPr>
              <a:t>4</a:t>
            </a:r>
            <a:endParaRPr sz="1050" b="1">
              <a:solidFill>
                <a:srgbClr val="315C8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639300" y="3581400"/>
            <a:ext cx="666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315C8B"/>
                </a:solidFill>
              </a:defRPr>
            </a:pPr>
            <a:r>
              <a:rPr sz="900" b="1">
                <a:solidFill>
                  <a:srgbClr val="315C8B"/>
                </a:solidFill>
                <a:latin typeface="PingFang SC"/>
                <a:ea typeface="PingFang SC"/>
                <a:cs typeface="PingFang SC"/>
              </a:rPr>
              <a:t>第 4 周</a:t>
            </a:r>
            <a:endParaRPr sz="900" b="1">
              <a:solidFill>
                <a:srgbClr val="315C8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10300335" y="2971800"/>
            <a:ext cx="838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3696B"/>
                </a:solidFill>
              </a:defRPr>
            </a:pPr>
            <a:r>
              <a:rPr sz="90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完善前端演示，整理最终报告和答辩材料</a:t>
            </a:r>
            <a:endParaRPr sz="90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742950" y="4362450"/>
            <a:ext cx="3333750" cy="1219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42950" y="4362450"/>
            <a:ext cx="57150" cy="1219200"/>
          </a:xfrm>
          <a:prstGeom prst="rect">
            <a:avLst/>
          </a:prstGeom>
          <a:solidFill>
            <a:srgbClr val="A455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71550" y="4591050"/>
            <a:ext cx="228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42A2B"/>
                </a:solidFill>
              </a:defRPr>
            </a:pPr>
            <a:r>
              <a:rPr sz="135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结构化抽取不稳定</a:t>
            </a:r>
            <a:endParaRPr sz="135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71550" y="5010150"/>
            <a:ext cx="2571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repair prompt、text-only pass、schema 归一化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4305300" y="4362450"/>
            <a:ext cx="3333750" cy="1219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305300" y="4362450"/>
            <a:ext cx="57150" cy="1219200"/>
          </a:xfrm>
          <a:prstGeom prst="rect">
            <a:avLst/>
          </a:prstGeom>
          <a:solidFill>
            <a:srgbClr val="B27B2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4533900" y="4591050"/>
            <a:ext cx="228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42A2B"/>
                </a:solidFill>
              </a:defRPr>
            </a:pPr>
            <a:r>
              <a:rPr sz="135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图谱过密或噪声边过多</a:t>
            </a:r>
            <a:endParaRPr sz="135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4533900" y="5010150"/>
            <a:ext cx="2571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限制 max_nodes，按节点类型和度排序邻居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7867650" y="4362450"/>
            <a:ext cx="3333750" cy="1219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7867650" y="4362450"/>
            <a:ext cx="57150" cy="12192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8096250" y="4591050"/>
            <a:ext cx="2286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42A2B"/>
                </a:solidFill>
              </a:defRPr>
            </a:pPr>
            <a:r>
              <a:rPr sz="135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API 成本和时间不可控</a:t>
            </a:r>
            <a:endParaRPr sz="135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8096250" y="5010150"/>
            <a:ext cx="2571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sha256 注册表、产物复用、小样本优先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rgbClr val="ECE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810750" y="0"/>
            <a:ext cx="2381250" cy="819150"/>
          </a:xfrm>
          <a:prstGeom prst="rect">
            <a:avLst/>
          </a:prstGeom>
          <a:solidFill>
            <a:srgbClr val="DDEF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5810250"/>
            <a:ext cx="2381250" cy="1047750"/>
          </a:xfrm>
          <a:prstGeom prst="rect">
            <a:avLst/>
          </a:prstGeom>
          <a:solidFill>
            <a:srgbClr val="EFE2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381000" y="381000"/>
            <a:ext cx="11430000" cy="6096000"/>
          </a:xfrm>
          <a:prstGeom prst="roundRect">
            <a:avLst>
              <a:gd name="adj" fmla="val 1250"/>
            </a:avLst>
          </a:prstGeom>
          <a:solidFill>
            <a:srgbClr val="FFFEFC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381000" y="381000"/>
            <a:ext cx="95250" cy="6096000"/>
          </a:xfrm>
          <a:prstGeom prst="rect">
            <a:avLst/>
          </a:prstGeom>
          <a:solidFill>
            <a:srgbClr val="F5EF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801350" y="514350"/>
            <a:ext cx="5524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14 / 14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542925"/>
            <a:ext cx="38100" cy="17145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5143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A5C50"/>
                </a:solidFill>
              </a:defRPr>
            </a:pPr>
            <a:r>
              <a:rPr sz="900" b="1">
                <a:solidFill>
                  <a:srgbClr val="0A5C50"/>
                </a:solidFill>
                <a:latin typeface="Aptos"/>
                <a:ea typeface="Aptos"/>
                <a:cs typeface="Aptos"/>
              </a:rPr>
              <a:t>13 · CONTRIBUTION</a:t>
            </a:r>
            <a:endParaRPr sz="900" b="1">
              <a:solidFill>
                <a:srgbClr val="0A5C5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895350"/>
            <a:ext cx="10763250" cy="14288"/>
          </a:xfrm>
          <a:prstGeom prst="rect">
            <a:avLst/>
          </a:prstGeom>
          <a:solidFill>
            <a:srgbClr val="D7E1D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990600"/>
            <a:ext cx="97155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75" b="1">
                <a:solidFill>
                  <a:srgbClr val="142A2B"/>
                </a:solidFill>
              </a:defRPr>
            </a:pPr>
            <a:r>
              <a:rPr sz="277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最后要证明什么</a:t>
            </a:r>
            <a:endParaRPr sz="277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42950" y="2324100"/>
            <a:ext cx="3333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2950" y="2324100"/>
            <a:ext cx="57150" cy="9906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71550" y="2514600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GraphRAG 主线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971550" y="2857500"/>
            <a:ext cx="2533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入库时同步构建向量索引和文档图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4305300" y="2324100"/>
            <a:ext cx="3333750" cy="990600"/>
          </a:xfrm>
          <a:prstGeom prst="roundRect">
            <a:avLst>
              <a:gd name="adj" fmla="val 7692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305300" y="2324100"/>
            <a:ext cx="57150" cy="9906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533900" y="2514600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页面图像参与解析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4533900" y="2857500"/>
            <a:ext cx="2533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从页面图像抽文本、表格、图表、结论、关键词和关系。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7867650" y="2324100"/>
            <a:ext cx="3333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867650" y="2324100"/>
            <a:ext cx="57150" cy="9906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096250" y="2514600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异构文档图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096250" y="2857500"/>
            <a:ext cx="2533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text / table / figure / conclusion / keyword 都进入图里。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742950" y="3543300"/>
            <a:ext cx="3333750" cy="990600"/>
          </a:xfrm>
          <a:prstGeom prst="roundRect">
            <a:avLst>
              <a:gd name="adj" fmla="val 7692"/>
            </a:avLst>
          </a:prstGeom>
          <a:solidFill>
            <a:srgbClr val="EEF6F3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42950" y="3543300"/>
            <a:ext cx="57150" cy="9906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71550" y="3733800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可回看来源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71550" y="4076700"/>
            <a:ext cx="2533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回答之外还能看到节点、边、页码、bbox 和关系路径。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4305300" y="3543300"/>
            <a:ext cx="68961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305300" y="3543300"/>
            <a:ext cx="57150" cy="9906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4533900" y="3733800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42A2B"/>
                </a:solidFill>
              </a:defRPr>
            </a:pPr>
            <a:r>
              <a:rPr sz="1500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低资源落地</a:t>
            </a:r>
            <a:endParaRPr sz="1500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533900" y="4076700"/>
            <a:ext cx="5829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3696B"/>
                </a:solidFill>
              </a:defRPr>
            </a:pPr>
            <a:r>
              <a:rPr sz="1050" b="0">
                <a:solidFill>
                  <a:srgbClr val="53696B"/>
                </a:solidFill>
                <a:latin typeface="PingFang SC"/>
                <a:ea typeface="PingFang SC"/>
                <a:cs typeface="PingFang SC"/>
              </a:rPr>
              <a:t>无需本地 GPU，依赖轻量本地组件和 API 调用完成课程周期原型。</a:t>
            </a:r>
            <a:endParaRPr sz="1050" b="0">
              <a:solidFill>
                <a:srgbClr val="53696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742950" y="5372100"/>
            <a:ext cx="106870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E1DE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742950" y="5372100"/>
            <a:ext cx="57150" cy="609600"/>
          </a:xfrm>
          <a:prstGeom prst="rect">
            <a:avLst/>
          </a:prstGeom>
          <a:solidFill>
            <a:srgbClr val="0E7D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047750" y="5562600"/>
            <a:ext cx="9696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42A2B"/>
                </a:solidFill>
              </a:defRPr>
            </a:pPr>
            <a:r>
              <a:rPr sz="1125" b="1">
                <a:solidFill>
                  <a:srgbClr val="142A2B"/>
                </a:solidFill>
                <a:latin typeface="PingFang SC"/>
                <a:ea typeface="PingFang SC"/>
                <a:cs typeface="PingFang SC"/>
              </a:rPr>
              <a:t>后续实验重点验证两件事：图扩展是否改善多跳问题，页面图像是否改善图表和版面相关问题。</a:t>
            </a:r>
            <a:endParaRPr sz="1125" b="1">
              <a:solidFill>
                <a:srgbClr val="142A2B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3505</Words>
  <Application>WPS 演示</Application>
  <PresentationFormat>Converted Presentation</PresentationFormat>
  <Paragraphs>495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31" baseType="lpstr">
      <vt:lpstr>Arial</vt:lpstr>
      <vt:lpstr>宋体</vt:lpstr>
      <vt:lpstr>Wingdings</vt:lpstr>
      <vt:lpstr>Aptos</vt:lpstr>
      <vt:lpstr>Helvetica Neue</vt:lpstr>
      <vt:lpstr>PingFang SC</vt:lpstr>
      <vt:lpstr>宋体</vt:lpstr>
      <vt:lpstr>汉仪书宋二KW</vt:lpstr>
      <vt:lpstr>Thonburi</vt:lpstr>
      <vt:lpstr>微软雅黑</vt:lpstr>
      <vt:lpstr>汉仪旗黑</vt:lpstr>
      <vt:lpstr>Arial Unicode MS</vt:lpstr>
      <vt:lpstr>Calibri</vt:lpstr>
      <vt:lpstr>Aptos</vt:lpstr>
      <vt:lpstr>PingFang SC</vt:lpstr>
      <vt:lpstr>苹方-简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梁力航</cp:lastModifiedBy>
  <cp:revision>2</cp:revision>
  <dcterms:created xsi:type="dcterms:W3CDTF">2026-05-06T09:23:07Z</dcterms:created>
  <dcterms:modified xsi:type="dcterms:W3CDTF">2026-05-06T09:23:07Z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AE8361348BDD95856C08FB692DDAA0C5_42</vt:lpwstr>
  </property>
  <property fmtid="{D5CDD505-2E9C-101B-9397-08002B2CF9AE}" pid="3" name="KSOProductBuildVer">
    <vt:lpwstr>2052-12.1.25869.25869</vt:lpwstr>
  </property>
</Properties>
</file>